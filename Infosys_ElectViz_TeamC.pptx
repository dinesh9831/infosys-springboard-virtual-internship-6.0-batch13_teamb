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9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8" r:id="rId14"/>
    <p:sldId id="27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16" autoAdjust="0"/>
    <p:restoredTop sz="88504" autoAdjust="0"/>
  </p:normalViewPr>
  <p:slideViewPr>
    <p:cSldViewPr snapToGrid="0">
      <p:cViewPr varScale="1">
        <p:scale>
          <a:sx n="76" d="100"/>
          <a:sy n="76" d="100"/>
        </p:scale>
        <p:origin x="86" y="163"/>
      </p:cViewPr>
      <p:guideLst/>
    </p:cSldViewPr>
  </p:slideViewPr>
  <p:outlineViewPr>
    <p:cViewPr>
      <p:scale>
        <a:sx n="33" d="100"/>
        <a:sy n="33" d="100"/>
      </p:scale>
      <p:origin x="0" y="-7123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329662-35C1-4BA9-926B-31950343CEB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193CB33-2C92-496C-BBF5-66A64C0A7EEF}">
      <dgm:prSet/>
      <dgm:spPr/>
      <dgm:t>
        <a:bodyPr/>
        <a:lstStyle/>
        <a:p>
          <a:r>
            <a:rPr lang="en-US"/>
            <a:t>Turnout % =DIVIDE(SUM(totvotpoll), SUM(electors))</a:t>
          </a:r>
        </a:p>
      </dgm:t>
    </dgm:pt>
    <dgm:pt modelId="{EBF5D6C3-9FA7-455B-B6FF-986B01D84934}" type="parTrans" cxnId="{4CA15FEB-0346-47AE-A49B-4E26AC21B0D1}">
      <dgm:prSet/>
      <dgm:spPr/>
      <dgm:t>
        <a:bodyPr/>
        <a:lstStyle/>
        <a:p>
          <a:endParaRPr lang="en-US"/>
        </a:p>
      </dgm:t>
    </dgm:pt>
    <dgm:pt modelId="{624EF202-E3A9-4802-9DB3-8B1EF0F3AB4D}" type="sibTrans" cxnId="{4CA15FEB-0346-47AE-A49B-4E26AC21B0D1}">
      <dgm:prSet/>
      <dgm:spPr/>
      <dgm:t>
        <a:bodyPr/>
        <a:lstStyle/>
        <a:p>
          <a:endParaRPr lang="en-US"/>
        </a:p>
      </dgm:t>
    </dgm:pt>
    <dgm:pt modelId="{64B64186-F98C-4B9C-A68F-35FC773A707D}">
      <dgm:prSet/>
      <dgm:spPr/>
      <dgm:t>
        <a:bodyPr/>
        <a:lstStyle/>
        <a:p>
          <a:r>
            <a:rPr lang="en-US"/>
            <a:t>Total Votes =SUM(totvotpoll)</a:t>
          </a:r>
        </a:p>
      </dgm:t>
    </dgm:pt>
    <dgm:pt modelId="{AD132F88-C272-4CF0-8E5E-F40FD17E0620}" type="parTrans" cxnId="{5A1E1C14-7AB5-471C-A5DA-8C3A4090C666}">
      <dgm:prSet/>
      <dgm:spPr/>
      <dgm:t>
        <a:bodyPr/>
        <a:lstStyle/>
        <a:p>
          <a:endParaRPr lang="en-US"/>
        </a:p>
      </dgm:t>
    </dgm:pt>
    <dgm:pt modelId="{34E59719-3B32-4CF4-B77E-D3122F687ECD}" type="sibTrans" cxnId="{5A1E1C14-7AB5-471C-A5DA-8C3A4090C666}">
      <dgm:prSet/>
      <dgm:spPr/>
      <dgm:t>
        <a:bodyPr/>
        <a:lstStyle/>
        <a:p>
          <a:endParaRPr lang="en-US"/>
        </a:p>
      </dgm:t>
    </dgm:pt>
    <dgm:pt modelId="{86F31AD2-5CB1-446C-8012-7EB43EC165F6}">
      <dgm:prSet/>
      <dgm:spPr/>
      <dgm:t>
        <a:bodyPr/>
        <a:lstStyle/>
        <a:p>
          <a:r>
            <a:rPr lang="en-IN"/>
            <a:t>Total Parties =DISTINCTCOUNT(partyabbre)</a:t>
          </a:r>
          <a:endParaRPr lang="en-US"/>
        </a:p>
      </dgm:t>
    </dgm:pt>
    <dgm:pt modelId="{50750442-B099-408F-BD2A-3B6AB6154958}" type="parTrans" cxnId="{BE1C281A-FD69-41A6-8E35-C261F59657E6}">
      <dgm:prSet/>
      <dgm:spPr/>
      <dgm:t>
        <a:bodyPr/>
        <a:lstStyle/>
        <a:p>
          <a:endParaRPr lang="en-US"/>
        </a:p>
      </dgm:t>
    </dgm:pt>
    <dgm:pt modelId="{89D9D3B8-6DAE-4853-9173-DF3D0D7BDBCF}" type="sibTrans" cxnId="{BE1C281A-FD69-41A6-8E35-C261F59657E6}">
      <dgm:prSet/>
      <dgm:spPr/>
      <dgm:t>
        <a:bodyPr/>
        <a:lstStyle/>
        <a:p>
          <a:endParaRPr lang="en-US"/>
        </a:p>
      </dgm:t>
    </dgm:pt>
    <dgm:pt modelId="{F31114DF-0662-4018-8AB6-BA0CC8D8DC88}">
      <dgm:prSet/>
      <dgm:spPr/>
      <dgm:t>
        <a:bodyPr/>
        <a:lstStyle/>
        <a:p>
          <a:r>
            <a:rPr lang="en-US"/>
            <a:t>Winner Vote Share % =DIVIDE([Winner Votes], [Total Votes]) * 100</a:t>
          </a:r>
        </a:p>
      </dgm:t>
    </dgm:pt>
    <dgm:pt modelId="{41CFA1D1-67BD-45C9-A66F-397C6230C060}" type="parTrans" cxnId="{8FF8E64B-573E-4E02-ABD5-0DED1A681703}">
      <dgm:prSet/>
      <dgm:spPr/>
      <dgm:t>
        <a:bodyPr/>
        <a:lstStyle/>
        <a:p>
          <a:endParaRPr lang="en-US"/>
        </a:p>
      </dgm:t>
    </dgm:pt>
    <dgm:pt modelId="{7D988054-58B7-494B-A93C-6D9BBFBDF304}" type="sibTrans" cxnId="{8FF8E64B-573E-4E02-ABD5-0DED1A681703}">
      <dgm:prSet/>
      <dgm:spPr/>
      <dgm:t>
        <a:bodyPr/>
        <a:lstStyle/>
        <a:p>
          <a:endParaRPr lang="en-US"/>
        </a:p>
      </dgm:t>
    </dgm:pt>
    <dgm:pt modelId="{DF83BE9A-2786-4D67-807B-FB995806C046}">
      <dgm:prSet/>
      <dgm:spPr/>
      <dgm:t>
        <a:bodyPr/>
        <a:lstStyle/>
        <a:p>
          <a:r>
            <a:rPr lang="en-US"/>
            <a:t>Other Vote Share % =1 - ([Winner Vote Share %] + [Runner Up Vote Share %])</a:t>
          </a:r>
        </a:p>
      </dgm:t>
    </dgm:pt>
    <dgm:pt modelId="{61306C04-314C-4F85-97CF-291990E68AA1}" type="parTrans" cxnId="{0D8051C6-6573-44BE-8687-098C114FF8C1}">
      <dgm:prSet/>
      <dgm:spPr/>
      <dgm:t>
        <a:bodyPr/>
        <a:lstStyle/>
        <a:p>
          <a:endParaRPr lang="en-US"/>
        </a:p>
      </dgm:t>
    </dgm:pt>
    <dgm:pt modelId="{5BBDD065-FDB1-4F81-9CDB-A2A278ADC808}" type="sibTrans" cxnId="{0D8051C6-6573-44BE-8687-098C114FF8C1}">
      <dgm:prSet/>
      <dgm:spPr/>
      <dgm:t>
        <a:bodyPr/>
        <a:lstStyle/>
        <a:p>
          <a:endParaRPr lang="en-US"/>
        </a:p>
      </dgm:t>
    </dgm:pt>
    <dgm:pt modelId="{1180CEB7-A470-4A72-84C2-35B45794151D}">
      <dgm:prSet/>
      <dgm:spPr/>
      <dgm:t>
        <a:bodyPr/>
        <a:lstStyle/>
        <a:p>
          <a:r>
            <a:rPr lang="en-US" dirty="0"/>
            <a:t>Rank =RANKX(ALLEXCEPT(</a:t>
          </a:r>
          <a:r>
            <a:rPr lang="en-US" dirty="0" err="1"/>
            <a:t>pc_name</a:t>
          </a:r>
          <a:r>
            <a:rPr lang="en-US" dirty="0"/>
            <a:t>, year),SUM(</a:t>
          </a:r>
          <a:r>
            <a:rPr lang="en-US" dirty="0" err="1"/>
            <a:t>totvotpoll</a:t>
          </a:r>
          <a:r>
            <a:rPr lang="en-US" dirty="0"/>
            <a:t>),DESC)</a:t>
          </a:r>
        </a:p>
      </dgm:t>
    </dgm:pt>
    <dgm:pt modelId="{A14B5C28-E18F-465E-B6F7-4BF6BA1E285D}" type="parTrans" cxnId="{32B64150-3248-4F15-B96E-9C36FAE22A94}">
      <dgm:prSet/>
      <dgm:spPr/>
      <dgm:t>
        <a:bodyPr/>
        <a:lstStyle/>
        <a:p>
          <a:endParaRPr lang="en-US"/>
        </a:p>
      </dgm:t>
    </dgm:pt>
    <dgm:pt modelId="{9309BD97-DF70-4429-B5BC-71443D11121C}" type="sibTrans" cxnId="{32B64150-3248-4F15-B96E-9C36FAE22A94}">
      <dgm:prSet/>
      <dgm:spPr/>
      <dgm:t>
        <a:bodyPr/>
        <a:lstStyle/>
        <a:p>
          <a:endParaRPr lang="en-US"/>
        </a:p>
      </dgm:t>
    </dgm:pt>
    <dgm:pt modelId="{1D88CF05-2F9A-478A-A163-2F5FBF215BAD}" type="pres">
      <dgm:prSet presAssocID="{84329662-35C1-4BA9-926B-31950343CEB3}" presName="vert0" presStyleCnt="0">
        <dgm:presLayoutVars>
          <dgm:dir/>
          <dgm:animOne val="branch"/>
          <dgm:animLvl val="lvl"/>
        </dgm:presLayoutVars>
      </dgm:prSet>
      <dgm:spPr/>
    </dgm:pt>
    <dgm:pt modelId="{7C8508CB-C797-4639-B61E-B053F9EBB0B3}" type="pres">
      <dgm:prSet presAssocID="{B193CB33-2C92-496C-BBF5-66A64C0A7EEF}" presName="thickLine" presStyleLbl="alignNode1" presStyleIdx="0" presStyleCnt="6"/>
      <dgm:spPr/>
    </dgm:pt>
    <dgm:pt modelId="{E0536796-DC6C-4ACD-8054-E16A71CF3E63}" type="pres">
      <dgm:prSet presAssocID="{B193CB33-2C92-496C-BBF5-66A64C0A7EEF}" presName="horz1" presStyleCnt="0"/>
      <dgm:spPr/>
    </dgm:pt>
    <dgm:pt modelId="{FF7D2C98-2A2B-4A7B-94C4-1163C7C20744}" type="pres">
      <dgm:prSet presAssocID="{B193CB33-2C92-496C-BBF5-66A64C0A7EEF}" presName="tx1" presStyleLbl="revTx" presStyleIdx="0" presStyleCnt="6"/>
      <dgm:spPr/>
    </dgm:pt>
    <dgm:pt modelId="{4E44B4F3-1868-471D-9D23-CFCE0569319F}" type="pres">
      <dgm:prSet presAssocID="{B193CB33-2C92-496C-BBF5-66A64C0A7EEF}" presName="vert1" presStyleCnt="0"/>
      <dgm:spPr/>
    </dgm:pt>
    <dgm:pt modelId="{A753F974-E2D0-46E3-BC58-931B9229A7BC}" type="pres">
      <dgm:prSet presAssocID="{64B64186-F98C-4B9C-A68F-35FC773A707D}" presName="thickLine" presStyleLbl="alignNode1" presStyleIdx="1" presStyleCnt="6"/>
      <dgm:spPr/>
    </dgm:pt>
    <dgm:pt modelId="{23DEA111-0CC1-4B33-A661-F851D640BD54}" type="pres">
      <dgm:prSet presAssocID="{64B64186-F98C-4B9C-A68F-35FC773A707D}" presName="horz1" presStyleCnt="0"/>
      <dgm:spPr/>
    </dgm:pt>
    <dgm:pt modelId="{3B048B0A-0FE0-4274-BBC1-CAE52B1DEBFC}" type="pres">
      <dgm:prSet presAssocID="{64B64186-F98C-4B9C-A68F-35FC773A707D}" presName="tx1" presStyleLbl="revTx" presStyleIdx="1" presStyleCnt="6"/>
      <dgm:spPr/>
    </dgm:pt>
    <dgm:pt modelId="{37EE4DDE-0226-461A-AE6A-0DE9B0C1593B}" type="pres">
      <dgm:prSet presAssocID="{64B64186-F98C-4B9C-A68F-35FC773A707D}" presName="vert1" presStyleCnt="0"/>
      <dgm:spPr/>
    </dgm:pt>
    <dgm:pt modelId="{02551481-E13D-4190-931A-BB329DDCD5DA}" type="pres">
      <dgm:prSet presAssocID="{86F31AD2-5CB1-446C-8012-7EB43EC165F6}" presName="thickLine" presStyleLbl="alignNode1" presStyleIdx="2" presStyleCnt="6"/>
      <dgm:spPr/>
    </dgm:pt>
    <dgm:pt modelId="{87E988DC-7244-45DF-A2E1-A8F92C18C870}" type="pres">
      <dgm:prSet presAssocID="{86F31AD2-5CB1-446C-8012-7EB43EC165F6}" presName="horz1" presStyleCnt="0"/>
      <dgm:spPr/>
    </dgm:pt>
    <dgm:pt modelId="{84A9FDF6-4899-4866-9CCE-76C0629C763A}" type="pres">
      <dgm:prSet presAssocID="{86F31AD2-5CB1-446C-8012-7EB43EC165F6}" presName="tx1" presStyleLbl="revTx" presStyleIdx="2" presStyleCnt="6"/>
      <dgm:spPr/>
    </dgm:pt>
    <dgm:pt modelId="{616094C5-B706-48BC-AB00-D4B5E891B1B1}" type="pres">
      <dgm:prSet presAssocID="{86F31AD2-5CB1-446C-8012-7EB43EC165F6}" presName="vert1" presStyleCnt="0"/>
      <dgm:spPr/>
    </dgm:pt>
    <dgm:pt modelId="{BDE7BFA3-4884-4BCF-9915-EDB886CB8578}" type="pres">
      <dgm:prSet presAssocID="{F31114DF-0662-4018-8AB6-BA0CC8D8DC88}" presName="thickLine" presStyleLbl="alignNode1" presStyleIdx="3" presStyleCnt="6"/>
      <dgm:spPr/>
    </dgm:pt>
    <dgm:pt modelId="{AD9F7B8A-1136-4DA2-8069-CABC1099A18F}" type="pres">
      <dgm:prSet presAssocID="{F31114DF-0662-4018-8AB6-BA0CC8D8DC88}" presName="horz1" presStyleCnt="0"/>
      <dgm:spPr/>
    </dgm:pt>
    <dgm:pt modelId="{C02C1C98-819F-4A0E-932D-206FC3F51D02}" type="pres">
      <dgm:prSet presAssocID="{F31114DF-0662-4018-8AB6-BA0CC8D8DC88}" presName="tx1" presStyleLbl="revTx" presStyleIdx="3" presStyleCnt="6"/>
      <dgm:spPr/>
    </dgm:pt>
    <dgm:pt modelId="{518A33D2-B555-40CB-8A68-DC3933754395}" type="pres">
      <dgm:prSet presAssocID="{F31114DF-0662-4018-8AB6-BA0CC8D8DC88}" presName="vert1" presStyleCnt="0"/>
      <dgm:spPr/>
    </dgm:pt>
    <dgm:pt modelId="{0EF840FA-29CF-4F5E-A72A-06D2704073FC}" type="pres">
      <dgm:prSet presAssocID="{DF83BE9A-2786-4D67-807B-FB995806C046}" presName="thickLine" presStyleLbl="alignNode1" presStyleIdx="4" presStyleCnt="6"/>
      <dgm:spPr/>
    </dgm:pt>
    <dgm:pt modelId="{765BA025-02DB-41FB-89B0-E9C36933A73B}" type="pres">
      <dgm:prSet presAssocID="{DF83BE9A-2786-4D67-807B-FB995806C046}" presName="horz1" presStyleCnt="0"/>
      <dgm:spPr/>
    </dgm:pt>
    <dgm:pt modelId="{3CD510FD-B8F9-4DFB-8B21-05ABE08247A1}" type="pres">
      <dgm:prSet presAssocID="{DF83BE9A-2786-4D67-807B-FB995806C046}" presName="tx1" presStyleLbl="revTx" presStyleIdx="4" presStyleCnt="6"/>
      <dgm:spPr/>
    </dgm:pt>
    <dgm:pt modelId="{B950BAC9-5F26-452D-BC7F-3075719A3BB7}" type="pres">
      <dgm:prSet presAssocID="{DF83BE9A-2786-4D67-807B-FB995806C046}" presName="vert1" presStyleCnt="0"/>
      <dgm:spPr/>
    </dgm:pt>
    <dgm:pt modelId="{5190ABB3-CB8B-4AA1-9B2B-F887A7A6E383}" type="pres">
      <dgm:prSet presAssocID="{1180CEB7-A470-4A72-84C2-35B45794151D}" presName="thickLine" presStyleLbl="alignNode1" presStyleIdx="5" presStyleCnt="6"/>
      <dgm:spPr/>
    </dgm:pt>
    <dgm:pt modelId="{D1932D55-3A4E-48F1-97BA-DBE4F9B4F775}" type="pres">
      <dgm:prSet presAssocID="{1180CEB7-A470-4A72-84C2-35B45794151D}" presName="horz1" presStyleCnt="0"/>
      <dgm:spPr/>
    </dgm:pt>
    <dgm:pt modelId="{AD773341-06FD-4E56-97F7-0A48791B1076}" type="pres">
      <dgm:prSet presAssocID="{1180CEB7-A470-4A72-84C2-35B45794151D}" presName="tx1" presStyleLbl="revTx" presStyleIdx="5" presStyleCnt="6"/>
      <dgm:spPr/>
    </dgm:pt>
    <dgm:pt modelId="{6BA33B0D-E396-4999-A073-30CEAA47F8AF}" type="pres">
      <dgm:prSet presAssocID="{1180CEB7-A470-4A72-84C2-35B45794151D}" presName="vert1" presStyleCnt="0"/>
      <dgm:spPr/>
    </dgm:pt>
  </dgm:ptLst>
  <dgm:cxnLst>
    <dgm:cxn modelId="{5A1E1C14-7AB5-471C-A5DA-8C3A4090C666}" srcId="{84329662-35C1-4BA9-926B-31950343CEB3}" destId="{64B64186-F98C-4B9C-A68F-35FC773A707D}" srcOrd="1" destOrd="0" parTransId="{AD132F88-C272-4CF0-8E5E-F40FD17E0620}" sibTransId="{34E59719-3B32-4CF4-B77E-D3122F687ECD}"/>
    <dgm:cxn modelId="{BE1C281A-FD69-41A6-8E35-C261F59657E6}" srcId="{84329662-35C1-4BA9-926B-31950343CEB3}" destId="{86F31AD2-5CB1-446C-8012-7EB43EC165F6}" srcOrd="2" destOrd="0" parTransId="{50750442-B099-408F-BD2A-3B6AB6154958}" sibTransId="{89D9D3B8-6DAE-4853-9173-DF3D0D7BDBCF}"/>
    <dgm:cxn modelId="{826A0432-5D11-406D-AFF0-A719C297E783}" type="presOf" srcId="{DF83BE9A-2786-4D67-807B-FB995806C046}" destId="{3CD510FD-B8F9-4DFB-8B21-05ABE08247A1}" srcOrd="0" destOrd="0" presId="urn:microsoft.com/office/officeart/2008/layout/LinedList"/>
    <dgm:cxn modelId="{E1B4FD69-1004-42D0-860A-79E7F658742C}" type="presOf" srcId="{84329662-35C1-4BA9-926B-31950343CEB3}" destId="{1D88CF05-2F9A-478A-A163-2F5FBF215BAD}" srcOrd="0" destOrd="0" presId="urn:microsoft.com/office/officeart/2008/layout/LinedList"/>
    <dgm:cxn modelId="{8FF8E64B-573E-4E02-ABD5-0DED1A681703}" srcId="{84329662-35C1-4BA9-926B-31950343CEB3}" destId="{F31114DF-0662-4018-8AB6-BA0CC8D8DC88}" srcOrd="3" destOrd="0" parTransId="{41CFA1D1-67BD-45C9-A66F-397C6230C060}" sibTransId="{7D988054-58B7-494B-A93C-6D9BBFBDF304}"/>
    <dgm:cxn modelId="{A949256C-0CA1-4FB6-BD15-B8CBD63968C0}" type="presOf" srcId="{64B64186-F98C-4B9C-A68F-35FC773A707D}" destId="{3B048B0A-0FE0-4274-BBC1-CAE52B1DEBFC}" srcOrd="0" destOrd="0" presId="urn:microsoft.com/office/officeart/2008/layout/LinedList"/>
    <dgm:cxn modelId="{32B64150-3248-4F15-B96E-9C36FAE22A94}" srcId="{84329662-35C1-4BA9-926B-31950343CEB3}" destId="{1180CEB7-A470-4A72-84C2-35B45794151D}" srcOrd="5" destOrd="0" parTransId="{A14B5C28-E18F-465E-B6F7-4BF6BA1E285D}" sibTransId="{9309BD97-DF70-4429-B5BC-71443D11121C}"/>
    <dgm:cxn modelId="{6C7A498A-8A36-4D1D-A652-FD0EE8CCBE9D}" type="presOf" srcId="{F31114DF-0662-4018-8AB6-BA0CC8D8DC88}" destId="{C02C1C98-819F-4A0E-932D-206FC3F51D02}" srcOrd="0" destOrd="0" presId="urn:microsoft.com/office/officeart/2008/layout/LinedList"/>
    <dgm:cxn modelId="{0D8051C6-6573-44BE-8687-098C114FF8C1}" srcId="{84329662-35C1-4BA9-926B-31950343CEB3}" destId="{DF83BE9A-2786-4D67-807B-FB995806C046}" srcOrd="4" destOrd="0" parTransId="{61306C04-314C-4F85-97CF-291990E68AA1}" sibTransId="{5BBDD065-FDB1-4F81-9CDB-A2A278ADC808}"/>
    <dgm:cxn modelId="{730273C7-F072-460B-ADEA-C48BA3931D4E}" type="presOf" srcId="{1180CEB7-A470-4A72-84C2-35B45794151D}" destId="{AD773341-06FD-4E56-97F7-0A48791B1076}" srcOrd="0" destOrd="0" presId="urn:microsoft.com/office/officeart/2008/layout/LinedList"/>
    <dgm:cxn modelId="{F2B49EE1-5396-4810-AB1B-E080BB8DCDF2}" type="presOf" srcId="{B193CB33-2C92-496C-BBF5-66A64C0A7EEF}" destId="{FF7D2C98-2A2B-4A7B-94C4-1163C7C20744}" srcOrd="0" destOrd="0" presId="urn:microsoft.com/office/officeart/2008/layout/LinedList"/>
    <dgm:cxn modelId="{4CA15FEB-0346-47AE-A49B-4E26AC21B0D1}" srcId="{84329662-35C1-4BA9-926B-31950343CEB3}" destId="{B193CB33-2C92-496C-BBF5-66A64C0A7EEF}" srcOrd="0" destOrd="0" parTransId="{EBF5D6C3-9FA7-455B-B6FF-986B01D84934}" sibTransId="{624EF202-E3A9-4802-9DB3-8B1EF0F3AB4D}"/>
    <dgm:cxn modelId="{C3F353EB-BB81-407F-BD45-C65CD1D25E4A}" type="presOf" srcId="{86F31AD2-5CB1-446C-8012-7EB43EC165F6}" destId="{84A9FDF6-4899-4866-9CCE-76C0629C763A}" srcOrd="0" destOrd="0" presId="urn:microsoft.com/office/officeart/2008/layout/LinedList"/>
    <dgm:cxn modelId="{0604EF39-0C1F-4486-A8F9-AA5D9A92E1CC}" type="presParOf" srcId="{1D88CF05-2F9A-478A-A163-2F5FBF215BAD}" destId="{7C8508CB-C797-4639-B61E-B053F9EBB0B3}" srcOrd="0" destOrd="0" presId="urn:microsoft.com/office/officeart/2008/layout/LinedList"/>
    <dgm:cxn modelId="{5DE71240-7BCB-4723-9A0B-E04D4992DD60}" type="presParOf" srcId="{1D88CF05-2F9A-478A-A163-2F5FBF215BAD}" destId="{E0536796-DC6C-4ACD-8054-E16A71CF3E63}" srcOrd="1" destOrd="0" presId="urn:microsoft.com/office/officeart/2008/layout/LinedList"/>
    <dgm:cxn modelId="{10562158-4040-4D62-B68F-DFE5E863FCDB}" type="presParOf" srcId="{E0536796-DC6C-4ACD-8054-E16A71CF3E63}" destId="{FF7D2C98-2A2B-4A7B-94C4-1163C7C20744}" srcOrd="0" destOrd="0" presId="urn:microsoft.com/office/officeart/2008/layout/LinedList"/>
    <dgm:cxn modelId="{378B5DF5-1DCA-4504-BAF4-212B353815EB}" type="presParOf" srcId="{E0536796-DC6C-4ACD-8054-E16A71CF3E63}" destId="{4E44B4F3-1868-471D-9D23-CFCE0569319F}" srcOrd="1" destOrd="0" presId="urn:microsoft.com/office/officeart/2008/layout/LinedList"/>
    <dgm:cxn modelId="{7C5EAD57-C95E-4B8F-8ADF-511D24EFCB36}" type="presParOf" srcId="{1D88CF05-2F9A-478A-A163-2F5FBF215BAD}" destId="{A753F974-E2D0-46E3-BC58-931B9229A7BC}" srcOrd="2" destOrd="0" presId="urn:microsoft.com/office/officeart/2008/layout/LinedList"/>
    <dgm:cxn modelId="{4FA3160E-1F18-42A8-A05A-F2A988D4A033}" type="presParOf" srcId="{1D88CF05-2F9A-478A-A163-2F5FBF215BAD}" destId="{23DEA111-0CC1-4B33-A661-F851D640BD54}" srcOrd="3" destOrd="0" presId="urn:microsoft.com/office/officeart/2008/layout/LinedList"/>
    <dgm:cxn modelId="{93E0640F-DC1A-4D8B-A3EA-FAE10FE06984}" type="presParOf" srcId="{23DEA111-0CC1-4B33-A661-F851D640BD54}" destId="{3B048B0A-0FE0-4274-BBC1-CAE52B1DEBFC}" srcOrd="0" destOrd="0" presId="urn:microsoft.com/office/officeart/2008/layout/LinedList"/>
    <dgm:cxn modelId="{D85CCF90-0546-4856-BF60-B5EB48795D85}" type="presParOf" srcId="{23DEA111-0CC1-4B33-A661-F851D640BD54}" destId="{37EE4DDE-0226-461A-AE6A-0DE9B0C1593B}" srcOrd="1" destOrd="0" presId="urn:microsoft.com/office/officeart/2008/layout/LinedList"/>
    <dgm:cxn modelId="{797EC875-0F35-4574-99AB-732069439BE6}" type="presParOf" srcId="{1D88CF05-2F9A-478A-A163-2F5FBF215BAD}" destId="{02551481-E13D-4190-931A-BB329DDCD5DA}" srcOrd="4" destOrd="0" presId="urn:microsoft.com/office/officeart/2008/layout/LinedList"/>
    <dgm:cxn modelId="{A23DD557-8C42-4AF7-B75E-3485106E1E9F}" type="presParOf" srcId="{1D88CF05-2F9A-478A-A163-2F5FBF215BAD}" destId="{87E988DC-7244-45DF-A2E1-A8F92C18C870}" srcOrd="5" destOrd="0" presId="urn:microsoft.com/office/officeart/2008/layout/LinedList"/>
    <dgm:cxn modelId="{C6CF51B1-B318-4579-8CBD-D53C1161B68D}" type="presParOf" srcId="{87E988DC-7244-45DF-A2E1-A8F92C18C870}" destId="{84A9FDF6-4899-4866-9CCE-76C0629C763A}" srcOrd="0" destOrd="0" presId="urn:microsoft.com/office/officeart/2008/layout/LinedList"/>
    <dgm:cxn modelId="{7F58EDCB-0E39-4C64-9D2E-A2201935EDD6}" type="presParOf" srcId="{87E988DC-7244-45DF-A2E1-A8F92C18C870}" destId="{616094C5-B706-48BC-AB00-D4B5E891B1B1}" srcOrd="1" destOrd="0" presId="urn:microsoft.com/office/officeart/2008/layout/LinedList"/>
    <dgm:cxn modelId="{E7BD67A9-AD58-426A-B447-F20757BD1117}" type="presParOf" srcId="{1D88CF05-2F9A-478A-A163-2F5FBF215BAD}" destId="{BDE7BFA3-4884-4BCF-9915-EDB886CB8578}" srcOrd="6" destOrd="0" presId="urn:microsoft.com/office/officeart/2008/layout/LinedList"/>
    <dgm:cxn modelId="{B102FF4C-DCDC-45E6-9F37-89B6A3289A41}" type="presParOf" srcId="{1D88CF05-2F9A-478A-A163-2F5FBF215BAD}" destId="{AD9F7B8A-1136-4DA2-8069-CABC1099A18F}" srcOrd="7" destOrd="0" presId="urn:microsoft.com/office/officeart/2008/layout/LinedList"/>
    <dgm:cxn modelId="{A7E7595C-413F-45AA-BD7A-2778136EBF7A}" type="presParOf" srcId="{AD9F7B8A-1136-4DA2-8069-CABC1099A18F}" destId="{C02C1C98-819F-4A0E-932D-206FC3F51D02}" srcOrd="0" destOrd="0" presId="urn:microsoft.com/office/officeart/2008/layout/LinedList"/>
    <dgm:cxn modelId="{F5128096-BAF7-4AFF-8E77-E408563ACC43}" type="presParOf" srcId="{AD9F7B8A-1136-4DA2-8069-CABC1099A18F}" destId="{518A33D2-B555-40CB-8A68-DC3933754395}" srcOrd="1" destOrd="0" presId="urn:microsoft.com/office/officeart/2008/layout/LinedList"/>
    <dgm:cxn modelId="{EB92D69D-ADBC-4C51-BF92-2DA01F92BA58}" type="presParOf" srcId="{1D88CF05-2F9A-478A-A163-2F5FBF215BAD}" destId="{0EF840FA-29CF-4F5E-A72A-06D2704073FC}" srcOrd="8" destOrd="0" presId="urn:microsoft.com/office/officeart/2008/layout/LinedList"/>
    <dgm:cxn modelId="{FD4BFC9D-BAA9-46EE-A2A2-EF0333360352}" type="presParOf" srcId="{1D88CF05-2F9A-478A-A163-2F5FBF215BAD}" destId="{765BA025-02DB-41FB-89B0-E9C36933A73B}" srcOrd="9" destOrd="0" presId="urn:microsoft.com/office/officeart/2008/layout/LinedList"/>
    <dgm:cxn modelId="{447A672A-2CD9-4010-B7F9-92653382CAEA}" type="presParOf" srcId="{765BA025-02DB-41FB-89B0-E9C36933A73B}" destId="{3CD510FD-B8F9-4DFB-8B21-05ABE08247A1}" srcOrd="0" destOrd="0" presId="urn:microsoft.com/office/officeart/2008/layout/LinedList"/>
    <dgm:cxn modelId="{F25542F5-C871-48DC-B09B-6B0428C44CDD}" type="presParOf" srcId="{765BA025-02DB-41FB-89B0-E9C36933A73B}" destId="{B950BAC9-5F26-452D-BC7F-3075719A3BB7}" srcOrd="1" destOrd="0" presId="urn:microsoft.com/office/officeart/2008/layout/LinedList"/>
    <dgm:cxn modelId="{FD66E07A-FFE0-4916-9AAF-40E972A1AA80}" type="presParOf" srcId="{1D88CF05-2F9A-478A-A163-2F5FBF215BAD}" destId="{5190ABB3-CB8B-4AA1-9B2B-F887A7A6E383}" srcOrd="10" destOrd="0" presId="urn:microsoft.com/office/officeart/2008/layout/LinedList"/>
    <dgm:cxn modelId="{3AA8601C-D091-4970-88BA-A3EECD7564C2}" type="presParOf" srcId="{1D88CF05-2F9A-478A-A163-2F5FBF215BAD}" destId="{D1932D55-3A4E-48F1-97BA-DBE4F9B4F775}" srcOrd="11" destOrd="0" presId="urn:microsoft.com/office/officeart/2008/layout/LinedList"/>
    <dgm:cxn modelId="{A6A6135A-87FF-4208-AFED-AFF38313CDC2}" type="presParOf" srcId="{D1932D55-3A4E-48F1-97BA-DBE4F9B4F775}" destId="{AD773341-06FD-4E56-97F7-0A48791B1076}" srcOrd="0" destOrd="0" presId="urn:microsoft.com/office/officeart/2008/layout/LinedList"/>
    <dgm:cxn modelId="{753FE2D5-B72D-4059-B176-30FD0D6D45C3}" type="presParOf" srcId="{D1932D55-3A4E-48F1-97BA-DBE4F9B4F775}" destId="{6BA33B0D-E396-4999-A073-30CEAA47F8A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8508CB-C797-4639-B61E-B053F9EBB0B3}">
      <dsp:nvSpPr>
        <dsp:cNvPr id="0" name=""/>
        <dsp:cNvSpPr/>
      </dsp:nvSpPr>
      <dsp:spPr>
        <a:xfrm>
          <a:off x="0" y="2036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7D2C98-2A2B-4A7B-94C4-1163C7C20744}">
      <dsp:nvSpPr>
        <dsp:cNvPr id="0" name=""/>
        <dsp:cNvSpPr/>
      </dsp:nvSpPr>
      <dsp:spPr>
        <a:xfrm>
          <a:off x="0" y="2036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Turnout % =DIVIDE(SUM(totvotpoll), SUM(electors))</a:t>
          </a:r>
        </a:p>
      </dsp:txBody>
      <dsp:txXfrm>
        <a:off x="0" y="2036"/>
        <a:ext cx="4977578" cy="694522"/>
      </dsp:txXfrm>
    </dsp:sp>
    <dsp:sp modelId="{A753F974-E2D0-46E3-BC58-931B9229A7BC}">
      <dsp:nvSpPr>
        <dsp:cNvPr id="0" name=""/>
        <dsp:cNvSpPr/>
      </dsp:nvSpPr>
      <dsp:spPr>
        <a:xfrm>
          <a:off x="0" y="696559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048B0A-0FE0-4274-BBC1-CAE52B1DEBFC}">
      <dsp:nvSpPr>
        <dsp:cNvPr id="0" name=""/>
        <dsp:cNvSpPr/>
      </dsp:nvSpPr>
      <dsp:spPr>
        <a:xfrm>
          <a:off x="0" y="696559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Total Votes =SUM(totvotpoll)</a:t>
          </a:r>
        </a:p>
      </dsp:txBody>
      <dsp:txXfrm>
        <a:off x="0" y="696559"/>
        <a:ext cx="4977578" cy="694522"/>
      </dsp:txXfrm>
    </dsp:sp>
    <dsp:sp modelId="{02551481-E13D-4190-931A-BB329DDCD5DA}">
      <dsp:nvSpPr>
        <dsp:cNvPr id="0" name=""/>
        <dsp:cNvSpPr/>
      </dsp:nvSpPr>
      <dsp:spPr>
        <a:xfrm>
          <a:off x="0" y="1391082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9FDF6-4899-4866-9CCE-76C0629C763A}">
      <dsp:nvSpPr>
        <dsp:cNvPr id="0" name=""/>
        <dsp:cNvSpPr/>
      </dsp:nvSpPr>
      <dsp:spPr>
        <a:xfrm>
          <a:off x="0" y="1391082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kern="1200"/>
            <a:t>Total Parties =DISTINCTCOUNT(partyabbre)</a:t>
          </a:r>
          <a:endParaRPr lang="en-US" sz="1900" kern="1200"/>
        </a:p>
      </dsp:txBody>
      <dsp:txXfrm>
        <a:off x="0" y="1391082"/>
        <a:ext cx="4977578" cy="694522"/>
      </dsp:txXfrm>
    </dsp:sp>
    <dsp:sp modelId="{BDE7BFA3-4884-4BCF-9915-EDB886CB8578}">
      <dsp:nvSpPr>
        <dsp:cNvPr id="0" name=""/>
        <dsp:cNvSpPr/>
      </dsp:nvSpPr>
      <dsp:spPr>
        <a:xfrm>
          <a:off x="0" y="2085605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2C1C98-819F-4A0E-932D-206FC3F51D02}">
      <dsp:nvSpPr>
        <dsp:cNvPr id="0" name=""/>
        <dsp:cNvSpPr/>
      </dsp:nvSpPr>
      <dsp:spPr>
        <a:xfrm>
          <a:off x="0" y="2085605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Winner Vote Share % =DIVIDE([Winner Votes], [Total Votes]) * 100</a:t>
          </a:r>
        </a:p>
      </dsp:txBody>
      <dsp:txXfrm>
        <a:off x="0" y="2085605"/>
        <a:ext cx="4977578" cy="694522"/>
      </dsp:txXfrm>
    </dsp:sp>
    <dsp:sp modelId="{0EF840FA-29CF-4F5E-A72A-06D2704073FC}">
      <dsp:nvSpPr>
        <dsp:cNvPr id="0" name=""/>
        <dsp:cNvSpPr/>
      </dsp:nvSpPr>
      <dsp:spPr>
        <a:xfrm>
          <a:off x="0" y="2780128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D510FD-B8F9-4DFB-8B21-05ABE08247A1}">
      <dsp:nvSpPr>
        <dsp:cNvPr id="0" name=""/>
        <dsp:cNvSpPr/>
      </dsp:nvSpPr>
      <dsp:spPr>
        <a:xfrm>
          <a:off x="0" y="2780128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Other Vote Share % =1 - ([Winner Vote Share %] + [Runner Up Vote Share %])</a:t>
          </a:r>
        </a:p>
      </dsp:txBody>
      <dsp:txXfrm>
        <a:off x="0" y="2780128"/>
        <a:ext cx="4977578" cy="694522"/>
      </dsp:txXfrm>
    </dsp:sp>
    <dsp:sp modelId="{5190ABB3-CB8B-4AA1-9B2B-F887A7A6E383}">
      <dsp:nvSpPr>
        <dsp:cNvPr id="0" name=""/>
        <dsp:cNvSpPr/>
      </dsp:nvSpPr>
      <dsp:spPr>
        <a:xfrm>
          <a:off x="0" y="3474651"/>
          <a:ext cx="497757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73341-06FD-4E56-97F7-0A48791B1076}">
      <dsp:nvSpPr>
        <dsp:cNvPr id="0" name=""/>
        <dsp:cNvSpPr/>
      </dsp:nvSpPr>
      <dsp:spPr>
        <a:xfrm>
          <a:off x="0" y="3474651"/>
          <a:ext cx="4977578" cy="694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Rank =RANKX(ALLEXCEPT(</a:t>
          </a:r>
          <a:r>
            <a:rPr lang="en-US" sz="1900" kern="1200" dirty="0" err="1"/>
            <a:t>pc_name</a:t>
          </a:r>
          <a:r>
            <a:rPr lang="en-US" sz="1900" kern="1200" dirty="0"/>
            <a:t>, year),SUM(</a:t>
          </a:r>
          <a:r>
            <a:rPr lang="en-US" sz="1900" kern="1200" dirty="0" err="1"/>
            <a:t>totvotpoll</a:t>
          </a:r>
          <a:r>
            <a:rPr lang="en-US" sz="1900" kern="1200" dirty="0"/>
            <a:t>),DESC)</a:t>
          </a:r>
        </a:p>
      </dsp:txBody>
      <dsp:txXfrm>
        <a:off x="0" y="3474651"/>
        <a:ext cx="4977578" cy="6945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4FA5FA-039F-4070-95AD-49E3A5E010B6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2A4640-2E86-47E4-AB32-269105BC94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812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52A4640-2E86-47E4-AB32-269105BC9480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108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CDEB6-232C-7286-99D1-E87952731E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5C0C1B-84E3-E53B-DCF5-7FB783288F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1B1B1-2357-1E6D-0927-85BB768E1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873838-B471-157A-D517-58D290ECB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2C44D9-44A6-137A-D3F1-9C3800BC7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902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EBF82-C439-FDFA-3C3D-607E44CE9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3E401-9C56-8243-B9B2-FEF998B2F1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7830E-E99D-D9E9-3EF6-2D55EC775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0E1D60-B689-3E02-CC55-820C431CB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7FEDF2-47A0-DAC3-2E99-B44D17142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0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196BE-3388-20F5-687C-1FF30D60F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0FC9D0-F9A7-AF66-5051-0FEE9FE47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56F735-9B83-C396-BE8A-C0EED6AD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B421A9-E2B9-F07F-B7C8-AA6161CC6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F7EF1B-21CC-8273-7D0F-FC658037C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172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924E4-997A-5D97-F6D0-C485F42A5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77CE-437E-C407-2E62-2E0905CCD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EDF96F-9755-A80A-E7FB-9B41302E1D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37B95-B665-D099-8B96-A55A84E4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A5E02A-63EB-63A7-F282-DE1AB38DC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82249-C7AA-A58C-5BF7-0421D04C3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69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E93C1-233E-3E76-D18B-79D145140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9FA16B-9600-BDF6-5927-5C01DA196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38B85-7624-5F68-59DB-C631B05DAC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DB73BB-AC69-4141-96B4-AF8437A455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FB1CDB-4C37-54E9-169F-C878CE0C70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E053CC-6643-6CBD-34A3-39C875D54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22603-B7C6-4CCE-14E8-2BD75EEF0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4E21A-F9CD-74FD-6382-7BCD6249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1057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71BF3-529F-1A00-5B6A-4142D8D7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88ED6D-AAB0-91C6-3419-2FCD267AF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D94C85-129C-63BD-0850-8F3C964B4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EC618-2A97-0DA3-70B4-03BA0AC3B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423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AE6155-AB78-F04A-D333-716FB0448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22FA8C-250D-73E0-72B6-86E3ADA46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CD042-D39D-DDA9-62D6-777F1AAA5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972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21DAE-89B8-2113-AF4E-9E230A543F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1FC9B-0790-6AF7-FB41-3914415B5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9CEEE1-44F6-E83E-594F-F2E8768F97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A864B6-59A8-1EFE-6246-DD2CACED9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98A2EB-58FB-E21E-3C37-492370058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6481D-7ACC-5756-C974-1ACDFA0FA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0046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0746F-7EC3-5CB1-51F7-8D5B7BDC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A0865-BFF6-7A23-C272-89D293323A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BA122-B360-F352-79CB-D0B067AC7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AF829A-74A8-8C29-992C-C2A40E0869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BDF16E-F1B3-C391-8F0B-160262DC0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CC1DD-6DF6-F14F-D19D-062A6065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1491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5500-215B-38B7-1B47-1BE26DF5D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6CCD93-BE15-3B36-D968-7BD07817A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5EA00-DF2E-E69C-E0E2-33DC2543C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E8C310-8396-C6FD-C314-D8723B460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E7F40-9BBF-0D5D-3868-8E4ED4252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342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BCEA1B-B99B-F74F-7F14-AE41756A7A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32FAAC-38DE-7052-3CAD-B9D745BC93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48077-B304-5823-EB31-2A2A9E782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2EDFC-46E8-1EF4-73EC-2C4195A1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CAD07-5670-800B-8F1B-E61ADCA53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255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9432B1-831A-81DF-763E-79B7BFA82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4C54BE-11A9-7A80-8404-003DAEE6E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AB677C-12FA-FD5C-B95C-8EA4B9472E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221D14-77E9-4958-B72D-936B4B067DC8}" type="datetimeFigureOut">
              <a:rPr lang="en-IN" smtClean="0"/>
              <a:t>27-03-2026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BB003C-3F12-5A83-C402-64EC7B6A5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B146-8A1C-6B08-C557-90C96E1E0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B15B59-00DF-4C5B-AA91-E88FE04CF43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81228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A49CD61-4953-C709-9F52-D65A9CA1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802640"/>
            <a:ext cx="9261605" cy="5820703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br>
              <a:rPr lang="en-IN" b="1" dirty="0"/>
            </a:br>
            <a:br>
              <a:rPr lang="en-IN" b="1" dirty="0"/>
            </a:br>
            <a:r>
              <a:rPr lang="en-IN" b="1" dirty="0"/>
              <a:t>India General Elections Intelligence Dashboard</a:t>
            </a:r>
            <a:br>
              <a:rPr lang="en-IN" b="1" dirty="0"/>
            </a:br>
            <a:r>
              <a:rPr lang="en-IN" b="1" dirty="0"/>
              <a:t>(1977-2015)</a:t>
            </a:r>
            <a:br>
              <a:rPr lang="en-IN" b="1" dirty="0"/>
            </a:br>
            <a:br>
              <a:rPr lang="en-IN" b="1" dirty="0"/>
            </a:br>
            <a:br>
              <a:rPr lang="en-IN" b="1" dirty="0"/>
            </a:br>
            <a:r>
              <a:rPr lang="en-IN" sz="2800" b="1" dirty="0"/>
              <a:t>Done by</a:t>
            </a:r>
            <a:br>
              <a:rPr lang="en-IN" sz="2800" b="1" dirty="0"/>
            </a:br>
            <a:r>
              <a:rPr lang="en-IN" sz="2800" b="1" dirty="0"/>
              <a:t>Dhanashri Kadam</a:t>
            </a:r>
            <a:br>
              <a:rPr lang="en-IN" sz="2800" b="1" dirty="0"/>
            </a:br>
            <a:r>
              <a:rPr lang="en-IN" sz="2800" b="1" dirty="0"/>
              <a:t>Hasini Kolluri</a:t>
            </a:r>
            <a:br>
              <a:rPr lang="en-IN" sz="2800" b="1" dirty="0"/>
            </a:br>
            <a:r>
              <a:rPr lang="en-IN" sz="2800" b="1" dirty="0"/>
              <a:t> Moturi Sai Dinesh</a:t>
            </a:r>
            <a:br>
              <a:rPr lang="en-IN" sz="2800" b="1" dirty="0"/>
            </a:br>
            <a:r>
              <a:rPr lang="en-IN" sz="2700" b="1" dirty="0"/>
              <a:t>Piyush Churhe</a:t>
            </a:r>
            <a:br>
              <a:rPr lang="en-IN" sz="2700" b="1" dirty="0"/>
            </a:br>
            <a:r>
              <a:rPr lang="en-IN" sz="2700" b="1" dirty="0"/>
              <a:t>Siddamshetty Saipriya</a:t>
            </a:r>
            <a:br>
              <a:rPr lang="en-IN" b="1" dirty="0"/>
            </a:br>
            <a:endParaRPr lang="en-US" sz="52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8746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0A0D747-F38B-4A99-9985-62CE8C247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D1BF32B-6CA3-4695-8A0C-1AC789B58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5277870" cy="6858000"/>
          </a:xfrm>
          <a:custGeom>
            <a:avLst/>
            <a:gdLst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0 w 5434004"/>
              <a:gd name="connsiteY4" fmla="*/ 6857998 h 6858000"/>
              <a:gd name="connsiteX5" fmla="*/ 1049407 w 5434004"/>
              <a:gd name="connsiteY5" fmla="*/ 6857998 h 6858000"/>
              <a:gd name="connsiteX6" fmla="*/ 1033092 w 5434004"/>
              <a:gd name="connsiteY6" fmla="*/ 6843615 h 6858000"/>
              <a:gd name="connsiteX7" fmla="*/ 1004585 w 5434004"/>
              <a:gd name="connsiteY7" fmla="*/ 6800899 h 6858000"/>
              <a:gd name="connsiteX8" fmla="*/ 984086 w 5434004"/>
              <a:gd name="connsiteY8" fmla="*/ 6765441 h 6858000"/>
              <a:gd name="connsiteX9" fmla="*/ 955964 w 5434004"/>
              <a:gd name="connsiteY9" fmla="*/ 6739541 h 6858000"/>
              <a:gd name="connsiteX10" fmla="*/ 945820 w 5434004"/>
              <a:gd name="connsiteY10" fmla="*/ 6673829 h 6858000"/>
              <a:gd name="connsiteX11" fmla="*/ 921540 w 5434004"/>
              <a:gd name="connsiteY11" fmla="*/ 6620155 h 6858000"/>
              <a:gd name="connsiteX12" fmla="*/ 876436 w 5434004"/>
              <a:gd name="connsiteY12" fmla="*/ 6610437 h 6858000"/>
              <a:gd name="connsiteX13" fmla="*/ 876973 w 5434004"/>
              <a:gd name="connsiteY13" fmla="*/ 6596307 h 6858000"/>
              <a:gd name="connsiteX14" fmla="*/ 893782 w 5434004"/>
              <a:gd name="connsiteY14" fmla="*/ 6536039 h 6858000"/>
              <a:gd name="connsiteX15" fmla="*/ 830281 w 5434004"/>
              <a:gd name="connsiteY15" fmla="*/ 6239239 h 6858000"/>
              <a:gd name="connsiteX16" fmla="*/ 816373 w 5434004"/>
              <a:gd name="connsiteY16" fmla="*/ 6116986 h 6858000"/>
              <a:gd name="connsiteX17" fmla="*/ 788606 w 5434004"/>
              <a:gd name="connsiteY17" fmla="*/ 5895434 h 6858000"/>
              <a:gd name="connsiteX18" fmla="*/ 762315 w 5434004"/>
              <a:gd name="connsiteY18" fmla="*/ 5848019 h 6858000"/>
              <a:gd name="connsiteX19" fmla="*/ 714842 w 5434004"/>
              <a:gd name="connsiteY19" fmla="*/ 5722306 h 6858000"/>
              <a:gd name="connsiteX20" fmla="*/ 679500 w 5434004"/>
              <a:gd name="connsiteY20" fmla="*/ 5528085 h 6858000"/>
              <a:gd name="connsiteX21" fmla="*/ 660956 w 5434004"/>
              <a:gd name="connsiteY21" fmla="*/ 5506768 h 6858000"/>
              <a:gd name="connsiteX22" fmla="*/ 642957 w 5434004"/>
              <a:gd name="connsiteY22" fmla="*/ 5473318 h 6858000"/>
              <a:gd name="connsiteX23" fmla="*/ 602099 w 5434004"/>
              <a:gd name="connsiteY23" fmla="*/ 5418521 h 6858000"/>
              <a:gd name="connsiteX24" fmla="*/ 563009 w 5434004"/>
              <a:gd name="connsiteY24" fmla="*/ 5337536 h 6858000"/>
              <a:gd name="connsiteX25" fmla="*/ 584675 w 5434004"/>
              <a:gd name="connsiteY25" fmla="*/ 5255190 h 6858000"/>
              <a:gd name="connsiteX26" fmla="*/ 564878 w 5434004"/>
              <a:gd name="connsiteY26" fmla="*/ 5208171 h 6858000"/>
              <a:gd name="connsiteX27" fmla="*/ 540145 w 5434004"/>
              <a:gd name="connsiteY27" fmla="*/ 4993731 h 6858000"/>
              <a:gd name="connsiteX28" fmla="*/ 512099 w 5434004"/>
              <a:gd name="connsiteY28" fmla="*/ 4896399 h 6858000"/>
              <a:gd name="connsiteX29" fmla="*/ 482378 w 5434004"/>
              <a:gd name="connsiteY29" fmla="*/ 4838613 h 6858000"/>
              <a:gd name="connsiteX30" fmla="*/ 468676 w 5434004"/>
              <a:gd name="connsiteY30" fmla="*/ 4796522 h 6858000"/>
              <a:gd name="connsiteX31" fmla="*/ 430881 w 5434004"/>
              <a:gd name="connsiteY31" fmla="*/ 4672370 h 6858000"/>
              <a:gd name="connsiteX32" fmla="*/ 415292 w 5434004"/>
              <a:gd name="connsiteY32" fmla="*/ 4634253 h 6858000"/>
              <a:gd name="connsiteX33" fmla="*/ 348919 w 5434004"/>
              <a:gd name="connsiteY33" fmla="*/ 4549232 h 6858000"/>
              <a:gd name="connsiteX34" fmla="*/ 292438 w 5434004"/>
              <a:gd name="connsiteY34" fmla="*/ 4479912 h 6858000"/>
              <a:gd name="connsiteX35" fmla="*/ 283567 w 5434004"/>
              <a:gd name="connsiteY35" fmla="*/ 4376609 h 6858000"/>
              <a:gd name="connsiteX36" fmla="*/ 247018 w 5434004"/>
              <a:gd name="connsiteY36" fmla="*/ 4280257 h 6858000"/>
              <a:gd name="connsiteX37" fmla="*/ 243154 w 5434004"/>
              <a:gd name="connsiteY37" fmla="*/ 4208492 h 6858000"/>
              <a:gd name="connsiteX38" fmla="*/ 267243 w 5434004"/>
              <a:gd name="connsiteY38" fmla="*/ 4120636 h 6858000"/>
              <a:gd name="connsiteX39" fmla="*/ 274676 w 5434004"/>
              <a:gd name="connsiteY39" fmla="*/ 4116556 h 6858000"/>
              <a:gd name="connsiteX40" fmla="*/ 274016 w 5434004"/>
              <a:gd name="connsiteY40" fmla="*/ 4109625 h 6858000"/>
              <a:gd name="connsiteX41" fmla="*/ 266711 w 5434004"/>
              <a:gd name="connsiteY41" fmla="*/ 4105624 h 6858000"/>
              <a:gd name="connsiteX42" fmla="*/ 267360 w 5434004"/>
              <a:gd name="connsiteY42" fmla="*/ 4051441 h 6858000"/>
              <a:gd name="connsiteX43" fmla="*/ 280863 w 5434004"/>
              <a:gd name="connsiteY43" fmla="*/ 3988494 h 6858000"/>
              <a:gd name="connsiteX44" fmla="*/ 254473 w 5434004"/>
              <a:gd name="connsiteY44" fmla="*/ 3926485 h 6858000"/>
              <a:gd name="connsiteX45" fmla="*/ 238942 w 5434004"/>
              <a:gd name="connsiteY45" fmla="*/ 3857057 h 6858000"/>
              <a:gd name="connsiteX46" fmla="*/ 229388 w 5434004"/>
              <a:gd name="connsiteY46" fmla="*/ 3815650 h 6858000"/>
              <a:gd name="connsiteX47" fmla="*/ 224025 w 5434004"/>
              <a:gd name="connsiteY47" fmla="*/ 3696745 h 6858000"/>
              <a:gd name="connsiteX48" fmla="*/ 242028 w 5434004"/>
              <a:gd name="connsiteY48" fmla="*/ 3477814 h 6858000"/>
              <a:gd name="connsiteX49" fmla="*/ 239663 w 5434004"/>
              <a:gd name="connsiteY49" fmla="*/ 3375354 h 6858000"/>
              <a:gd name="connsiteX50" fmla="*/ 242939 w 5434004"/>
              <a:gd name="connsiteY50" fmla="*/ 3235494 h 6858000"/>
              <a:gd name="connsiteX51" fmla="*/ 235466 w 5434004"/>
              <a:gd name="connsiteY51" fmla="*/ 3111896 h 6858000"/>
              <a:gd name="connsiteX52" fmla="*/ 225859 w 5434004"/>
              <a:gd name="connsiteY52" fmla="*/ 3061665 h 6858000"/>
              <a:gd name="connsiteX53" fmla="*/ 214543 w 5434004"/>
              <a:gd name="connsiteY53" fmla="*/ 3026187 h 6858000"/>
              <a:gd name="connsiteX54" fmla="*/ 209002 w 5434004"/>
              <a:gd name="connsiteY54" fmla="*/ 2930097 h 6858000"/>
              <a:gd name="connsiteX55" fmla="*/ 209539 w 5434004"/>
              <a:gd name="connsiteY55" fmla="*/ 2768399 h 6858000"/>
              <a:gd name="connsiteX56" fmla="*/ 207490 w 5434004"/>
              <a:gd name="connsiteY56" fmla="*/ 2734615 h 6858000"/>
              <a:gd name="connsiteX57" fmla="*/ 197130 w 5434004"/>
              <a:gd name="connsiteY57" fmla="*/ 2708116 h 6858000"/>
              <a:gd name="connsiteX58" fmla="*/ 187231 w 5434004"/>
              <a:gd name="connsiteY58" fmla="*/ 2704185 h 6858000"/>
              <a:gd name="connsiteX59" fmla="*/ 184723 w 5434004"/>
              <a:gd name="connsiteY59" fmla="*/ 2686011 h 6858000"/>
              <a:gd name="connsiteX60" fmla="*/ 169929 w 5434004"/>
              <a:gd name="connsiteY60" fmla="*/ 2656504 h 6858000"/>
              <a:gd name="connsiteX61" fmla="*/ 188242 w 5434004"/>
              <a:gd name="connsiteY61" fmla="*/ 2589493 h 6858000"/>
              <a:gd name="connsiteX62" fmla="*/ 189125 w 5434004"/>
              <a:gd name="connsiteY62" fmla="*/ 2457617 h 6858000"/>
              <a:gd name="connsiteX63" fmla="*/ 195205 w 5434004"/>
              <a:gd name="connsiteY63" fmla="*/ 2210817 h 6858000"/>
              <a:gd name="connsiteX64" fmla="*/ 175797 w 5434004"/>
              <a:gd name="connsiteY64" fmla="*/ 1901521 h 6858000"/>
              <a:gd name="connsiteX65" fmla="*/ 156134 w 5434004"/>
              <a:gd name="connsiteY65" fmla="*/ 1700722 h 6858000"/>
              <a:gd name="connsiteX66" fmla="*/ 174157 w 5434004"/>
              <a:gd name="connsiteY66" fmla="*/ 1661610 h 6858000"/>
              <a:gd name="connsiteX67" fmla="*/ 180802 w 5434004"/>
              <a:gd name="connsiteY67" fmla="*/ 1640073 h 6858000"/>
              <a:gd name="connsiteX68" fmla="*/ 179221 w 5434004"/>
              <a:gd name="connsiteY68" fmla="*/ 1637398 h 6858000"/>
              <a:gd name="connsiteX69" fmla="*/ 179826 w 5434004"/>
              <a:gd name="connsiteY69" fmla="*/ 1612248 h 6858000"/>
              <a:gd name="connsiteX70" fmla="*/ 198048 w 5434004"/>
              <a:gd name="connsiteY70" fmla="*/ 1498097 h 6858000"/>
              <a:gd name="connsiteX71" fmla="*/ 196329 w 5434004"/>
              <a:gd name="connsiteY71" fmla="*/ 1497364 h 6858000"/>
              <a:gd name="connsiteX72" fmla="*/ 193204 w 5434004"/>
              <a:gd name="connsiteY72" fmla="*/ 1490042 h 6858000"/>
              <a:gd name="connsiteX73" fmla="*/ 211154 w 5434004"/>
              <a:gd name="connsiteY73" fmla="*/ 1451416 h 6858000"/>
              <a:gd name="connsiteX74" fmla="*/ 247750 w 5434004"/>
              <a:gd name="connsiteY74" fmla="*/ 1281781 h 6858000"/>
              <a:gd name="connsiteX75" fmla="*/ 323114 w 5434004"/>
              <a:gd name="connsiteY75" fmla="*/ 1074754 h 6858000"/>
              <a:gd name="connsiteX76" fmla="*/ 357209 w 5434004"/>
              <a:gd name="connsiteY76" fmla="*/ 1019094 h 6858000"/>
              <a:gd name="connsiteX77" fmla="*/ 393176 w 5434004"/>
              <a:gd name="connsiteY77" fmla="*/ 938921 h 6858000"/>
              <a:gd name="connsiteX78" fmla="*/ 451503 w 5434004"/>
              <a:gd name="connsiteY78" fmla="*/ 815814 h 6858000"/>
              <a:gd name="connsiteX79" fmla="*/ 567587 w 5434004"/>
              <a:gd name="connsiteY79" fmla="*/ 584070 h 6858000"/>
              <a:gd name="connsiteX80" fmla="*/ 592609 w 5434004"/>
              <a:gd name="connsiteY80" fmla="*/ 461805 h 6858000"/>
              <a:gd name="connsiteX81" fmla="*/ 624563 w 5434004"/>
              <a:gd name="connsiteY81" fmla="*/ 360945 h 6858000"/>
              <a:gd name="connsiteX82" fmla="*/ 627056 w 5434004"/>
              <a:gd name="connsiteY82" fmla="*/ 226335 h 6858000"/>
              <a:gd name="connsiteX83" fmla="*/ 655851 w 5434004"/>
              <a:gd name="connsiteY83" fmla="*/ 51690 h 6858000"/>
              <a:gd name="connsiteX84" fmla="*/ 653984 w 5434004"/>
              <a:gd name="connsiteY84" fmla="*/ 22133 h 6858000"/>
              <a:gd name="connsiteX85" fmla="*/ 643279 w 5434004"/>
              <a:gd name="connsiteY85" fmla="*/ 1037 h 6858000"/>
              <a:gd name="connsiteX0" fmla="*/ 643741 w 5434004"/>
              <a:gd name="connsiteY0" fmla="*/ 0 h 6858000"/>
              <a:gd name="connsiteX1" fmla="*/ 5434004 w 5434004"/>
              <a:gd name="connsiteY1" fmla="*/ 0 h 6858000"/>
              <a:gd name="connsiteX2" fmla="*/ 5434004 w 5434004"/>
              <a:gd name="connsiteY2" fmla="*/ 6858000 h 6858000"/>
              <a:gd name="connsiteX3" fmla="*/ 0 w 5434004"/>
              <a:gd name="connsiteY3" fmla="*/ 6858000 h 6858000"/>
              <a:gd name="connsiteX4" fmla="*/ 1049407 w 5434004"/>
              <a:gd name="connsiteY4" fmla="*/ 6857998 h 6858000"/>
              <a:gd name="connsiteX5" fmla="*/ 1033092 w 5434004"/>
              <a:gd name="connsiteY5" fmla="*/ 6843615 h 6858000"/>
              <a:gd name="connsiteX6" fmla="*/ 1004585 w 5434004"/>
              <a:gd name="connsiteY6" fmla="*/ 6800899 h 6858000"/>
              <a:gd name="connsiteX7" fmla="*/ 984086 w 5434004"/>
              <a:gd name="connsiteY7" fmla="*/ 6765441 h 6858000"/>
              <a:gd name="connsiteX8" fmla="*/ 955964 w 5434004"/>
              <a:gd name="connsiteY8" fmla="*/ 6739541 h 6858000"/>
              <a:gd name="connsiteX9" fmla="*/ 945820 w 5434004"/>
              <a:gd name="connsiteY9" fmla="*/ 6673829 h 6858000"/>
              <a:gd name="connsiteX10" fmla="*/ 921540 w 5434004"/>
              <a:gd name="connsiteY10" fmla="*/ 6620155 h 6858000"/>
              <a:gd name="connsiteX11" fmla="*/ 876436 w 5434004"/>
              <a:gd name="connsiteY11" fmla="*/ 6610437 h 6858000"/>
              <a:gd name="connsiteX12" fmla="*/ 876973 w 5434004"/>
              <a:gd name="connsiteY12" fmla="*/ 6596307 h 6858000"/>
              <a:gd name="connsiteX13" fmla="*/ 893782 w 5434004"/>
              <a:gd name="connsiteY13" fmla="*/ 6536039 h 6858000"/>
              <a:gd name="connsiteX14" fmla="*/ 830281 w 5434004"/>
              <a:gd name="connsiteY14" fmla="*/ 6239239 h 6858000"/>
              <a:gd name="connsiteX15" fmla="*/ 816373 w 5434004"/>
              <a:gd name="connsiteY15" fmla="*/ 6116986 h 6858000"/>
              <a:gd name="connsiteX16" fmla="*/ 788606 w 5434004"/>
              <a:gd name="connsiteY16" fmla="*/ 5895434 h 6858000"/>
              <a:gd name="connsiteX17" fmla="*/ 762315 w 5434004"/>
              <a:gd name="connsiteY17" fmla="*/ 5848019 h 6858000"/>
              <a:gd name="connsiteX18" fmla="*/ 714842 w 5434004"/>
              <a:gd name="connsiteY18" fmla="*/ 5722306 h 6858000"/>
              <a:gd name="connsiteX19" fmla="*/ 679500 w 5434004"/>
              <a:gd name="connsiteY19" fmla="*/ 5528085 h 6858000"/>
              <a:gd name="connsiteX20" fmla="*/ 660956 w 5434004"/>
              <a:gd name="connsiteY20" fmla="*/ 5506768 h 6858000"/>
              <a:gd name="connsiteX21" fmla="*/ 642957 w 5434004"/>
              <a:gd name="connsiteY21" fmla="*/ 5473318 h 6858000"/>
              <a:gd name="connsiteX22" fmla="*/ 602099 w 5434004"/>
              <a:gd name="connsiteY22" fmla="*/ 5418521 h 6858000"/>
              <a:gd name="connsiteX23" fmla="*/ 563009 w 5434004"/>
              <a:gd name="connsiteY23" fmla="*/ 5337536 h 6858000"/>
              <a:gd name="connsiteX24" fmla="*/ 584675 w 5434004"/>
              <a:gd name="connsiteY24" fmla="*/ 5255190 h 6858000"/>
              <a:gd name="connsiteX25" fmla="*/ 564878 w 5434004"/>
              <a:gd name="connsiteY25" fmla="*/ 5208171 h 6858000"/>
              <a:gd name="connsiteX26" fmla="*/ 540145 w 5434004"/>
              <a:gd name="connsiteY26" fmla="*/ 4993731 h 6858000"/>
              <a:gd name="connsiteX27" fmla="*/ 512099 w 5434004"/>
              <a:gd name="connsiteY27" fmla="*/ 4896399 h 6858000"/>
              <a:gd name="connsiteX28" fmla="*/ 482378 w 5434004"/>
              <a:gd name="connsiteY28" fmla="*/ 4838613 h 6858000"/>
              <a:gd name="connsiteX29" fmla="*/ 468676 w 5434004"/>
              <a:gd name="connsiteY29" fmla="*/ 4796522 h 6858000"/>
              <a:gd name="connsiteX30" fmla="*/ 430881 w 5434004"/>
              <a:gd name="connsiteY30" fmla="*/ 4672370 h 6858000"/>
              <a:gd name="connsiteX31" fmla="*/ 415292 w 5434004"/>
              <a:gd name="connsiteY31" fmla="*/ 4634253 h 6858000"/>
              <a:gd name="connsiteX32" fmla="*/ 348919 w 5434004"/>
              <a:gd name="connsiteY32" fmla="*/ 4549232 h 6858000"/>
              <a:gd name="connsiteX33" fmla="*/ 292438 w 5434004"/>
              <a:gd name="connsiteY33" fmla="*/ 4479912 h 6858000"/>
              <a:gd name="connsiteX34" fmla="*/ 283567 w 5434004"/>
              <a:gd name="connsiteY34" fmla="*/ 4376609 h 6858000"/>
              <a:gd name="connsiteX35" fmla="*/ 247018 w 5434004"/>
              <a:gd name="connsiteY35" fmla="*/ 4280257 h 6858000"/>
              <a:gd name="connsiteX36" fmla="*/ 243154 w 5434004"/>
              <a:gd name="connsiteY36" fmla="*/ 4208492 h 6858000"/>
              <a:gd name="connsiteX37" fmla="*/ 267243 w 5434004"/>
              <a:gd name="connsiteY37" fmla="*/ 4120636 h 6858000"/>
              <a:gd name="connsiteX38" fmla="*/ 274676 w 5434004"/>
              <a:gd name="connsiteY38" fmla="*/ 4116556 h 6858000"/>
              <a:gd name="connsiteX39" fmla="*/ 274016 w 5434004"/>
              <a:gd name="connsiteY39" fmla="*/ 4109625 h 6858000"/>
              <a:gd name="connsiteX40" fmla="*/ 266711 w 5434004"/>
              <a:gd name="connsiteY40" fmla="*/ 4105624 h 6858000"/>
              <a:gd name="connsiteX41" fmla="*/ 267360 w 5434004"/>
              <a:gd name="connsiteY41" fmla="*/ 4051441 h 6858000"/>
              <a:gd name="connsiteX42" fmla="*/ 280863 w 5434004"/>
              <a:gd name="connsiteY42" fmla="*/ 3988494 h 6858000"/>
              <a:gd name="connsiteX43" fmla="*/ 254473 w 5434004"/>
              <a:gd name="connsiteY43" fmla="*/ 3926485 h 6858000"/>
              <a:gd name="connsiteX44" fmla="*/ 238942 w 5434004"/>
              <a:gd name="connsiteY44" fmla="*/ 3857057 h 6858000"/>
              <a:gd name="connsiteX45" fmla="*/ 229388 w 5434004"/>
              <a:gd name="connsiteY45" fmla="*/ 3815650 h 6858000"/>
              <a:gd name="connsiteX46" fmla="*/ 224025 w 5434004"/>
              <a:gd name="connsiteY46" fmla="*/ 3696745 h 6858000"/>
              <a:gd name="connsiteX47" fmla="*/ 242028 w 5434004"/>
              <a:gd name="connsiteY47" fmla="*/ 3477814 h 6858000"/>
              <a:gd name="connsiteX48" fmla="*/ 239663 w 5434004"/>
              <a:gd name="connsiteY48" fmla="*/ 3375354 h 6858000"/>
              <a:gd name="connsiteX49" fmla="*/ 242939 w 5434004"/>
              <a:gd name="connsiteY49" fmla="*/ 3235494 h 6858000"/>
              <a:gd name="connsiteX50" fmla="*/ 235466 w 5434004"/>
              <a:gd name="connsiteY50" fmla="*/ 3111896 h 6858000"/>
              <a:gd name="connsiteX51" fmla="*/ 225859 w 5434004"/>
              <a:gd name="connsiteY51" fmla="*/ 3061665 h 6858000"/>
              <a:gd name="connsiteX52" fmla="*/ 214543 w 5434004"/>
              <a:gd name="connsiteY52" fmla="*/ 3026187 h 6858000"/>
              <a:gd name="connsiteX53" fmla="*/ 209002 w 5434004"/>
              <a:gd name="connsiteY53" fmla="*/ 2930097 h 6858000"/>
              <a:gd name="connsiteX54" fmla="*/ 209539 w 5434004"/>
              <a:gd name="connsiteY54" fmla="*/ 2768399 h 6858000"/>
              <a:gd name="connsiteX55" fmla="*/ 207490 w 5434004"/>
              <a:gd name="connsiteY55" fmla="*/ 2734615 h 6858000"/>
              <a:gd name="connsiteX56" fmla="*/ 197130 w 5434004"/>
              <a:gd name="connsiteY56" fmla="*/ 2708116 h 6858000"/>
              <a:gd name="connsiteX57" fmla="*/ 187231 w 5434004"/>
              <a:gd name="connsiteY57" fmla="*/ 2704185 h 6858000"/>
              <a:gd name="connsiteX58" fmla="*/ 184723 w 5434004"/>
              <a:gd name="connsiteY58" fmla="*/ 2686011 h 6858000"/>
              <a:gd name="connsiteX59" fmla="*/ 169929 w 5434004"/>
              <a:gd name="connsiteY59" fmla="*/ 2656504 h 6858000"/>
              <a:gd name="connsiteX60" fmla="*/ 188242 w 5434004"/>
              <a:gd name="connsiteY60" fmla="*/ 2589493 h 6858000"/>
              <a:gd name="connsiteX61" fmla="*/ 189125 w 5434004"/>
              <a:gd name="connsiteY61" fmla="*/ 2457617 h 6858000"/>
              <a:gd name="connsiteX62" fmla="*/ 195205 w 5434004"/>
              <a:gd name="connsiteY62" fmla="*/ 2210817 h 6858000"/>
              <a:gd name="connsiteX63" fmla="*/ 175797 w 5434004"/>
              <a:gd name="connsiteY63" fmla="*/ 1901521 h 6858000"/>
              <a:gd name="connsiteX64" fmla="*/ 156134 w 5434004"/>
              <a:gd name="connsiteY64" fmla="*/ 1700722 h 6858000"/>
              <a:gd name="connsiteX65" fmla="*/ 174157 w 5434004"/>
              <a:gd name="connsiteY65" fmla="*/ 1661610 h 6858000"/>
              <a:gd name="connsiteX66" fmla="*/ 180802 w 5434004"/>
              <a:gd name="connsiteY66" fmla="*/ 1640073 h 6858000"/>
              <a:gd name="connsiteX67" fmla="*/ 179221 w 5434004"/>
              <a:gd name="connsiteY67" fmla="*/ 1637398 h 6858000"/>
              <a:gd name="connsiteX68" fmla="*/ 179826 w 5434004"/>
              <a:gd name="connsiteY68" fmla="*/ 1612248 h 6858000"/>
              <a:gd name="connsiteX69" fmla="*/ 198048 w 5434004"/>
              <a:gd name="connsiteY69" fmla="*/ 1498097 h 6858000"/>
              <a:gd name="connsiteX70" fmla="*/ 196329 w 5434004"/>
              <a:gd name="connsiteY70" fmla="*/ 1497364 h 6858000"/>
              <a:gd name="connsiteX71" fmla="*/ 193204 w 5434004"/>
              <a:gd name="connsiteY71" fmla="*/ 1490042 h 6858000"/>
              <a:gd name="connsiteX72" fmla="*/ 211154 w 5434004"/>
              <a:gd name="connsiteY72" fmla="*/ 1451416 h 6858000"/>
              <a:gd name="connsiteX73" fmla="*/ 247750 w 5434004"/>
              <a:gd name="connsiteY73" fmla="*/ 1281781 h 6858000"/>
              <a:gd name="connsiteX74" fmla="*/ 323114 w 5434004"/>
              <a:gd name="connsiteY74" fmla="*/ 1074754 h 6858000"/>
              <a:gd name="connsiteX75" fmla="*/ 357209 w 5434004"/>
              <a:gd name="connsiteY75" fmla="*/ 1019094 h 6858000"/>
              <a:gd name="connsiteX76" fmla="*/ 393176 w 5434004"/>
              <a:gd name="connsiteY76" fmla="*/ 938921 h 6858000"/>
              <a:gd name="connsiteX77" fmla="*/ 451503 w 5434004"/>
              <a:gd name="connsiteY77" fmla="*/ 815814 h 6858000"/>
              <a:gd name="connsiteX78" fmla="*/ 567587 w 5434004"/>
              <a:gd name="connsiteY78" fmla="*/ 584070 h 6858000"/>
              <a:gd name="connsiteX79" fmla="*/ 592609 w 5434004"/>
              <a:gd name="connsiteY79" fmla="*/ 461805 h 6858000"/>
              <a:gd name="connsiteX80" fmla="*/ 624563 w 5434004"/>
              <a:gd name="connsiteY80" fmla="*/ 360945 h 6858000"/>
              <a:gd name="connsiteX81" fmla="*/ 627056 w 5434004"/>
              <a:gd name="connsiteY81" fmla="*/ 226335 h 6858000"/>
              <a:gd name="connsiteX82" fmla="*/ 655851 w 5434004"/>
              <a:gd name="connsiteY82" fmla="*/ 51690 h 6858000"/>
              <a:gd name="connsiteX83" fmla="*/ 653984 w 5434004"/>
              <a:gd name="connsiteY83" fmla="*/ 22133 h 6858000"/>
              <a:gd name="connsiteX84" fmla="*/ 643279 w 5434004"/>
              <a:gd name="connsiteY84" fmla="*/ 1037 h 6858000"/>
              <a:gd name="connsiteX85" fmla="*/ 643741 w 5434004"/>
              <a:gd name="connsiteY85" fmla="*/ 0 h 6858000"/>
              <a:gd name="connsiteX0" fmla="*/ 487607 w 5277870"/>
              <a:gd name="connsiteY0" fmla="*/ 0 h 6858000"/>
              <a:gd name="connsiteX1" fmla="*/ 5277870 w 5277870"/>
              <a:gd name="connsiteY1" fmla="*/ 0 h 6858000"/>
              <a:gd name="connsiteX2" fmla="*/ 5277870 w 5277870"/>
              <a:gd name="connsiteY2" fmla="*/ 6858000 h 6858000"/>
              <a:gd name="connsiteX3" fmla="*/ 893273 w 5277870"/>
              <a:gd name="connsiteY3" fmla="*/ 6857998 h 6858000"/>
              <a:gd name="connsiteX4" fmla="*/ 876958 w 5277870"/>
              <a:gd name="connsiteY4" fmla="*/ 6843615 h 6858000"/>
              <a:gd name="connsiteX5" fmla="*/ 848451 w 5277870"/>
              <a:gd name="connsiteY5" fmla="*/ 6800899 h 6858000"/>
              <a:gd name="connsiteX6" fmla="*/ 827952 w 5277870"/>
              <a:gd name="connsiteY6" fmla="*/ 6765441 h 6858000"/>
              <a:gd name="connsiteX7" fmla="*/ 799830 w 5277870"/>
              <a:gd name="connsiteY7" fmla="*/ 6739541 h 6858000"/>
              <a:gd name="connsiteX8" fmla="*/ 789686 w 5277870"/>
              <a:gd name="connsiteY8" fmla="*/ 6673829 h 6858000"/>
              <a:gd name="connsiteX9" fmla="*/ 765406 w 5277870"/>
              <a:gd name="connsiteY9" fmla="*/ 6620155 h 6858000"/>
              <a:gd name="connsiteX10" fmla="*/ 720302 w 5277870"/>
              <a:gd name="connsiteY10" fmla="*/ 6610437 h 6858000"/>
              <a:gd name="connsiteX11" fmla="*/ 720839 w 5277870"/>
              <a:gd name="connsiteY11" fmla="*/ 6596307 h 6858000"/>
              <a:gd name="connsiteX12" fmla="*/ 737648 w 5277870"/>
              <a:gd name="connsiteY12" fmla="*/ 6536039 h 6858000"/>
              <a:gd name="connsiteX13" fmla="*/ 674147 w 5277870"/>
              <a:gd name="connsiteY13" fmla="*/ 6239239 h 6858000"/>
              <a:gd name="connsiteX14" fmla="*/ 660239 w 5277870"/>
              <a:gd name="connsiteY14" fmla="*/ 6116986 h 6858000"/>
              <a:gd name="connsiteX15" fmla="*/ 632472 w 5277870"/>
              <a:gd name="connsiteY15" fmla="*/ 5895434 h 6858000"/>
              <a:gd name="connsiteX16" fmla="*/ 606181 w 5277870"/>
              <a:gd name="connsiteY16" fmla="*/ 5848019 h 6858000"/>
              <a:gd name="connsiteX17" fmla="*/ 558708 w 5277870"/>
              <a:gd name="connsiteY17" fmla="*/ 5722306 h 6858000"/>
              <a:gd name="connsiteX18" fmla="*/ 523366 w 5277870"/>
              <a:gd name="connsiteY18" fmla="*/ 5528085 h 6858000"/>
              <a:gd name="connsiteX19" fmla="*/ 504822 w 5277870"/>
              <a:gd name="connsiteY19" fmla="*/ 5506768 h 6858000"/>
              <a:gd name="connsiteX20" fmla="*/ 486823 w 5277870"/>
              <a:gd name="connsiteY20" fmla="*/ 5473318 h 6858000"/>
              <a:gd name="connsiteX21" fmla="*/ 445965 w 5277870"/>
              <a:gd name="connsiteY21" fmla="*/ 5418521 h 6858000"/>
              <a:gd name="connsiteX22" fmla="*/ 406875 w 5277870"/>
              <a:gd name="connsiteY22" fmla="*/ 5337536 h 6858000"/>
              <a:gd name="connsiteX23" fmla="*/ 428541 w 5277870"/>
              <a:gd name="connsiteY23" fmla="*/ 5255190 h 6858000"/>
              <a:gd name="connsiteX24" fmla="*/ 408744 w 5277870"/>
              <a:gd name="connsiteY24" fmla="*/ 5208171 h 6858000"/>
              <a:gd name="connsiteX25" fmla="*/ 384011 w 5277870"/>
              <a:gd name="connsiteY25" fmla="*/ 4993731 h 6858000"/>
              <a:gd name="connsiteX26" fmla="*/ 355965 w 5277870"/>
              <a:gd name="connsiteY26" fmla="*/ 4896399 h 6858000"/>
              <a:gd name="connsiteX27" fmla="*/ 326244 w 5277870"/>
              <a:gd name="connsiteY27" fmla="*/ 4838613 h 6858000"/>
              <a:gd name="connsiteX28" fmla="*/ 312542 w 5277870"/>
              <a:gd name="connsiteY28" fmla="*/ 4796522 h 6858000"/>
              <a:gd name="connsiteX29" fmla="*/ 274747 w 5277870"/>
              <a:gd name="connsiteY29" fmla="*/ 4672370 h 6858000"/>
              <a:gd name="connsiteX30" fmla="*/ 259158 w 5277870"/>
              <a:gd name="connsiteY30" fmla="*/ 4634253 h 6858000"/>
              <a:gd name="connsiteX31" fmla="*/ 192785 w 5277870"/>
              <a:gd name="connsiteY31" fmla="*/ 4549232 h 6858000"/>
              <a:gd name="connsiteX32" fmla="*/ 136304 w 5277870"/>
              <a:gd name="connsiteY32" fmla="*/ 4479912 h 6858000"/>
              <a:gd name="connsiteX33" fmla="*/ 127433 w 5277870"/>
              <a:gd name="connsiteY33" fmla="*/ 4376609 h 6858000"/>
              <a:gd name="connsiteX34" fmla="*/ 90884 w 5277870"/>
              <a:gd name="connsiteY34" fmla="*/ 4280257 h 6858000"/>
              <a:gd name="connsiteX35" fmla="*/ 87020 w 5277870"/>
              <a:gd name="connsiteY35" fmla="*/ 4208492 h 6858000"/>
              <a:gd name="connsiteX36" fmla="*/ 111109 w 5277870"/>
              <a:gd name="connsiteY36" fmla="*/ 4120636 h 6858000"/>
              <a:gd name="connsiteX37" fmla="*/ 118542 w 5277870"/>
              <a:gd name="connsiteY37" fmla="*/ 4116556 h 6858000"/>
              <a:gd name="connsiteX38" fmla="*/ 117882 w 5277870"/>
              <a:gd name="connsiteY38" fmla="*/ 4109625 h 6858000"/>
              <a:gd name="connsiteX39" fmla="*/ 110577 w 5277870"/>
              <a:gd name="connsiteY39" fmla="*/ 4105624 h 6858000"/>
              <a:gd name="connsiteX40" fmla="*/ 111226 w 5277870"/>
              <a:gd name="connsiteY40" fmla="*/ 4051441 h 6858000"/>
              <a:gd name="connsiteX41" fmla="*/ 124729 w 5277870"/>
              <a:gd name="connsiteY41" fmla="*/ 3988494 h 6858000"/>
              <a:gd name="connsiteX42" fmla="*/ 98339 w 5277870"/>
              <a:gd name="connsiteY42" fmla="*/ 3926485 h 6858000"/>
              <a:gd name="connsiteX43" fmla="*/ 82808 w 5277870"/>
              <a:gd name="connsiteY43" fmla="*/ 3857057 h 6858000"/>
              <a:gd name="connsiteX44" fmla="*/ 73254 w 5277870"/>
              <a:gd name="connsiteY44" fmla="*/ 3815650 h 6858000"/>
              <a:gd name="connsiteX45" fmla="*/ 67891 w 5277870"/>
              <a:gd name="connsiteY45" fmla="*/ 3696745 h 6858000"/>
              <a:gd name="connsiteX46" fmla="*/ 85894 w 5277870"/>
              <a:gd name="connsiteY46" fmla="*/ 3477814 h 6858000"/>
              <a:gd name="connsiteX47" fmla="*/ 83529 w 5277870"/>
              <a:gd name="connsiteY47" fmla="*/ 3375354 h 6858000"/>
              <a:gd name="connsiteX48" fmla="*/ 86805 w 5277870"/>
              <a:gd name="connsiteY48" fmla="*/ 3235494 h 6858000"/>
              <a:gd name="connsiteX49" fmla="*/ 79332 w 5277870"/>
              <a:gd name="connsiteY49" fmla="*/ 3111896 h 6858000"/>
              <a:gd name="connsiteX50" fmla="*/ 69725 w 5277870"/>
              <a:gd name="connsiteY50" fmla="*/ 3061665 h 6858000"/>
              <a:gd name="connsiteX51" fmla="*/ 58409 w 5277870"/>
              <a:gd name="connsiteY51" fmla="*/ 3026187 h 6858000"/>
              <a:gd name="connsiteX52" fmla="*/ 52868 w 5277870"/>
              <a:gd name="connsiteY52" fmla="*/ 2930097 h 6858000"/>
              <a:gd name="connsiteX53" fmla="*/ 53405 w 5277870"/>
              <a:gd name="connsiteY53" fmla="*/ 2768399 h 6858000"/>
              <a:gd name="connsiteX54" fmla="*/ 51356 w 5277870"/>
              <a:gd name="connsiteY54" fmla="*/ 2734615 h 6858000"/>
              <a:gd name="connsiteX55" fmla="*/ 40996 w 5277870"/>
              <a:gd name="connsiteY55" fmla="*/ 2708116 h 6858000"/>
              <a:gd name="connsiteX56" fmla="*/ 31097 w 5277870"/>
              <a:gd name="connsiteY56" fmla="*/ 2704185 h 6858000"/>
              <a:gd name="connsiteX57" fmla="*/ 28589 w 5277870"/>
              <a:gd name="connsiteY57" fmla="*/ 2686011 h 6858000"/>
              <a:gd name="connsiteX58" fmla="*/ 13795 w 5277870"/>
              <a:gd name="connsiteY58" fmla="*/ 2656504 h 6858000"/>
              <a:gd name="connsiteX59" fmla="*/ 32108 w 5277870"/>
              <a:gd name="connsiteY59" fmla="*/ 2589493 h 6858000"/>
              <a:gd name="connsiteX60" fmla="*/ 32991 w 5277870"/>
              <a:gd name="connsiteY60" fmla="*/ 2457617 h 6858000"/>
              <a:gd name="connsiteX61" fmla="*/ 39071 w 5277870"/>
              <a:gd name="connsiteY61" fmla="*/ 2210817 h 6858000"/>
              <a:gd name="connsiteX62" fmla="*/ 19663 w 5277870"/>
              <a:gd name="connsiteY62" fmla="*/ 1901521 h 6858000"/>
              <a:gd name="connsiteX63" fmla="*/ 0 w 5277870"/>
              <a:gd name="connsiteY63" fmla="*/ 1700722 h 6858000"/>
              <a:gd name="connsiteX64" fmla="*/ 18023 w 5277870"/>
              <a:gd name="connsiteY64" fmla="*/ 1661610 h 6858000"/>
              <a:gd name="connsiteX65" fmla="*/ 24668 w 5277870"/>
              <a:gd name="connsiteY65" fmla="*/ 1640073 h 6858000"/>
              <a:gd name="connsiteX66" fmla="*/ 23087 w 5277870"/>
              <a:gd name="connsiteY66" fmla="*/ 1637398 h 6858000"/>
              <a:gd name="connsiteX67" fmla="*/ 23692 w 5277870"/>
              <a:gd name="connsiteY67" fmla="*/ 1612248 h 6858000"/>
              <a:gd name="connsiteX68" fmla="*/ 41914 w 5277870"/>
              <a:gd name="connsiteY68" fmla="*/ 1498097 h 6858000"/>
              <a:gd name="connsiteX69" fmla="*/ 40195 w 5277870"/>
              <a:gd name="connsiteY69" fmla="*/ 1497364 h 6858000"/>
              <a:gd name="connsiteX70" fmla="*/ 37070 w 5277870"/>
              <a:gd name="connsiteY70" fmla="*/ 1490042 h 6858000"/>
              <a:gd name="connsiteX71" fmla="*/ 55020 w 5277870"/>
              <a:gd name="connsiteY71" fmla="*/ 1451416 h 6858000"/>
              <a:gd name="connsiteX72" fmla="*/ 91616 w 5277870"/>
              <a:gd name="connsiteY72" fmla="*/ 1281781 h 6858000"/>
              <a:gd name="connsiteX73" fmla="*/ 166980 w 5277870"/>
              <a:gd name="connsiteY73" fmla="*/ 1074754 h 6858000"/>
              <a:gd name="connsiteX74" fmla="*/ 201075 w 5277870"/>
              <a:gd name="connsiteY74" fmla="*/ 1019094 h 6858000"/>
              <a:gd name="connsiteX75" fmla="*/ 237042 w 5277870"/>
              <a:gd name="connsiteY75" fmla="*/ 938921 h 6858000"/>
              <a:gd name="connsiteX76" fmla="*/ 295369 w 5277870"/>
              <a:gd name="connsiteY76" fmla="*/ 815814 h 6858000"/>
              <a:gd name="connsiteX77" fmla="*/ 411453 w 5277870"/>
              <a:gd name="connsiteY77" fmla="*/ 584070 h 6858000"/>
              <a:gd name="connsiteX78" fmla="*/ 436475 w 5277870"/>
              <a:gd name="connsiteY78" fmla="*/ 461805 h 6858000"/>
              <a:gd name="connsiteX79" fmla="*/ 468429 w 5277870"/>
              <a:gd name="connsiteY79" fmla="*/ 360945 h 6858000"/>
              <a:gd name="connsiteX80" fmla="*/ 470922 w 5277870"/>
              <a:gd name="connsiteY80" fmla="*/ 226335 h 6858000"/>
              <a:gd name="connsiteX81" fmla="*/ 499717 w 5277870"/>
              <a:gd name="connsiteY81" fmla="*/ 51690 h 6858000"/>
              <a:gd name="connsiteX82" fmla="*/ 497850 w 5277870"/>
              <a:gd name="connsiteY82" fmla="*/ 22133 h 6858000"/>
              <a:gd name="connsiteX83" fmla="*/ 487145 w 5277870"/>
              <a:gd name="connsiteY83" fmla="*/ 1037 h 6858000"/>
              <a:gd name="connsiteX84" fmla="*/ 487607 w 5277870"/>
              <a:gd name="connsiteY8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277870" h="6858000">
                <a:moveTo>
                  <a:pt x="487607" y="0"/>
                </a:moveTo>
                <a:lnTo>
                  <a:pt x="5277870" y="0"/>
                </a:lnTo>
                <a:lnTo>
                  <a:pt x="5277870" y="6858000"/>
                </a:lnTo>
                <a:lnTo>
                  <a:pt x="893273" y="6857998"/>
                </a:lnTo>
                <a:lnTo>
                  <a:pt x="876958" y="6843615"/>
                </a:lnTo>
                <a:lnTo>
                  <a:pt x="848451" y="6800899"/>
                </a:lnTo>
                <a:lnTo>
                  <a:pt x="827952" y="6765441"/>
                </a:lnTo>
                <a:cubicBezTo>
                  <a:pt x="827507" y="6750832"/>
                  <a:pt x="798355" y="6753978"/>
                  <a:pt x="799830" y="6739541"/>
                </a:cubicBezTo>
                <a:cubicBezTo>
                  <a:pt x="786503" y="6723280"/>
                  <a:pt x="803673" y="6682742"/>
                  <a:pt x="789686" y="6673829"/>
                </a:cubicBezTo>
                <a:cubicBezTo>
                  <a:pt x="776006" y="6657903"/>
                  <a:pt x="778015" y="6625745"/>
                  <a:pt x="765406" y="6620155"/>
                </a:cubicBezTo>
                <a:lnTo>
                  <a:pt x="720302" y="6610437"/>
                </a:lnTo>
                <a:lnTo>
                  <a:pt x="720839" y="6596307"/>
                </a:lnTo>
                <a:lnTo>
                  <a:pt x="737648" y="6536039"/>
                </a:lnTo>
                <a:cubicBezTo>
                  <a:pt x="731713" y="6378236"/>
                  <a:pt x="664893" y="6350780"/>
                  <a:pt x="674147" y="6239239"/>
                </a:cubicBezTo>
                <a:cubicBezTo>
                  <a:pt x="668193" y="6196030"/>
                  <a:pt x="677776" y="6168747"/>
                  <a:pt x="660239" y="6116986"/>
                </a:cubicBezTo>
                <a:cubicBezTo>
                  <a:pt x="693882" y="6035788"/>
                  <a:pt x="626477" y="5971885"/>
                  <a:pt x="632472" y="5895434"/>
                </a:cubicBezTo>
                <a:cubicBezTo>
                  <a:pt x="571936" y="5884249"/>
                  <a:pt x="624704" y="5880776"/>
                  <a:pt x="606181" y="5848019"/>
                </a:cubicBezTo>
                <a:cubicBezTo>
                  <a:pt x="593885" y="5819164"/>
                  <a:pt x="572509" y="5775628"/>
                  <a:pt x="558708" y="5722306"/>
                </a:cubicBezTo>
                <a:cubicBezTo>
                  <a:pt x="551746" y="5685812"/>
                  <a:pt x="532346" y="5564008"/>
                  <a:pt x="523366" y="5528085"/>
                </a:cubicBezTo>
                <a:cubicBezTo>
                  <a:pt x="518594" y="5519172"/>
                  <a:pt x="523045" y="5505250"/>
                  <a:pt x="504822" y="5506768"/>
                </a:cubicBezTo>
                <a:cubicBezTo>
                  <a:pt x="482648" y="5506487"/>
                  <a:pt x="511311" y="5459433"/>
                  <a:pt x="486823" y="5473318"/>
                </a:cubicBezTo>
                <a:cubicBezTo>
                  <a:pt x="506358" y="5440194"/>
                  <a:pt x="459463" y="5435836"/>
                  <a:pt x="445965" y="5418521"/>
                </a:cubicBezTo>
                <a:cubicBezTo>
                  <a:pt x="465954" y="5390815"/>
                  <a:pt x="417921" y="5381811"/>
                  <a:pt x="406875" y="5337536"/>
                </a:cubicBezTo>
                <a:cubicBezTo>
                  <a:pt x="430123" y="5306619"/>
                  <a:pt x="399081" y="5307846"/>
                  <a:pt x="428541" y="5255190"/>
                </a:cubicBezTo>
                <a:cubicBezTo>
                  <a:pt x="428852" y="5233629"/>
                  <a:pt x="407502" y="5247189"/>
                  <a:pt x="408744" y="5208171"/>
                </a:cubicBezTo>
                <a:cubicBezTo>
                  <a:pt x="406613" y="5154483"/>
                  <a:pt x="390295" y="5051554"/>
                  <a:pt x="384011" y="4993731"/>
                </a:cubicBezTo>
                <a:cubicBezTo>
                  <a:pt x="373186" y="4967089"/>
                  <a:pt x="370884" y="4912140"/>
                  <a:pt x="355965" y="4896399"/>
                </a:cubicBezTo>
                <a:cubicBezTo>
                  <a:pt x="355837" y="4852829"/>
                  <a:pt x="351078" y="4813709"/>
                  <a:pt x="326244" y="4838613"/>
                </a:cubicBezTo>
                <a:cubicBezTo>
                  <a:pt x="299018" y="4831439"/>
                  <a:pt x="336627" y="4804968"/>
                  <a:pt x="312542" y="4796522"/>
                </a:cubicBezTo>
                <a:lnTo>
                  <a:pt x="274747" y="4672370"/>
                </a:lnTo>
                <a:cubicBezTo>
                  <a:pt x="286762" y="4649487"/>
                  <a:pt x="276585" y="4640072"/>
                  <a:pt x="259158" y="4634253"/>
                </a:cubicBezTo>
                <a:cubicBezTo>
                  <a:pt x="255297" y="4595381"/>
                  <a:pt x="210632" y="4586807"/>
                  <a:pt x="192785" y="4549232"/>
                </a:cubicBezTo>
                <a:cubicBezTo>
                  <a:pt x="175514" y="4501329"/>
                  <a:pt x="155204" y="4520147"/>
                  <a:pt x="136304" y="4479912"/>
                </a:cubicBezTo>
                <a:lnTo>
                  <a:pt x="127433" y="4376609"/>
                </a:lnTo>
                <a:cubicBezTo>
                  <a:pt x="119863" y="4343333"/>
                  <a:pt x="97619" y="4308276"/>
                  <a:pt x="90884" y="4280257"/>
                </a:cubicBezTo>
                <a:cubicBezTo>
                  <a:pt x="94219" y="4220025"/>
                  <a:pt x="104684" y="4233011"/>
                  <a:pt x="87020" y="4208492"/>
                </a:cubicBezTo>
                <a:cubicBezTo>
                  <a:pt x="95065" y="4180444"/>
                  <a:pt x="129022" y="4152083"/>
                  <a:pt x="111109" y="4120636"/>
                </a:cubicBezTo>
                <a:cubicBezTo>
                  <a:pt x="115978" y="4121934"/>
                  <a:pt x="117998" y="4120145"/>
                  <a:pt x="118542" y="4116556"/>
                </a:cubicBezTo>
                <a:cubicBezTo>
                  <a:pt x="118321" y="4114246"/>
                  <a:pt x="118101" y="4111935"/>
                  <a:pt x="117882" y="4109625"/>
                </a:cubicBezTo>
                <a:lnTo>
                  <a:pt x="110577" y="4105624"/>
                </a:lnTo>
                <a:cubicBezTo>
                  <a:pt x="85114" y="4088878"/>
                  <a:pt x="113587" y="4082596"/>
                  <a:pt x="111226" y="4051441"/>
                </a:cubicBezTo>
                <a:cubicBezTo>
                  <a:pt x="111638" y="4036628"/>
                  <a:pt x="118512" y="3985548"/>
                  <a:pt x="124729" y="3988494"/>
                </a:cubicBezTo>
                <a:lnTo>
                  <a:pt x="98339" y="3926485"/>
                </a:lnTo>
                <a:cubicBezTo>
                  <a:pt x="120456" y="3887663"/>
                  <a:pt x="82381" y="3893685"/>
                  <a:pt x="82808" y="3857057"/>
                </a:cubicBezTo>
                <a:cubicBezTo>
                  <a:pt x="89625" y="3836374"/>
                  <a:pt x="88641" y="3824518"/>
                  <a:pt x="73254" y="3815650"/>
                </a:cubicBezTo>
                <a:cubicBezTo>
                  <a:pt x="107452" y="3718923"/>
                  <a:pt x="64680" y="3772318"/>
                  <a:pt x="67891" y="3696745"/>
                </a:cubicBezTo>
                <a:cubicBezTo>
                  <a:pt x="73347" y="3630391"/>
                  <a:pt x="83288" y="3531379"/>
                  <a:pt x="85894" y="3477814"/>
                </a:cubicBezTo>
                <a:cubicBezTo>
                  <a:pt x="88500" y="3424249"/>
                  <a:pt x="86217" y="3377198"/>
                  <a:pt x="83529" y="3375354"/>
                </a:cubicBezTo>
                <a:cubicBezTo>
                  <a:pt x="83101" y="3339059"/>
                  <a:pt x="90016" y="3285266"/>
                  <a:pt x="86805" y="3235494"/>
                </a:cubicBezTo>
                <a:cubicBezTo>
                  <a:pt x="78762" y="3207446"/>
                  <a:pt x="61419" y="3143345"/>
                  <a:pt x="79332" y="3111896"/>
                </a:cubicBezTo>
                <a:cubicBezTo>
                  <a:pt x="59856" y="3117096"/>
                  <a:pt x="85974" y="3072872"/>
                  <a:pt x="69725" y="3061665"/>
                </a:cubicBezTo>
                <a:cubicBezTo>
                  <a:pt x="56184" y="3054621"/>
                  <a:pt x="60953" y="3039562"/>
                  <a:pt x="58409" y="3026187"/>
                </a:cubicBezTo>
                <a:cubicBezTo>
                  <a:pt x="45869" y="3013333"/>
                  <a:pt x="46112" y="2950064"/>
                  <a:pt x="52868" y="2930097"/>
                </a:cubicBezTo>
                <a:cubicBezTo>
                  <a:pt x="80421" y="2876459"/>
                  <a:pt x="32874" y="2811741"/>
                  <a:pt x="53405" y="2768399"/>
                </a:cubicBezTo>
                <a:cubicBezTo>
                  <a:pt x="54801" y="2755814"/>
                  <a:pt x="53816" y="2744722"/>
                  <a:pt x="51356" y="2734615"/>
                </a:cubicBezTo>
                <a:lnTo>
                  <a:pt x="40996" y="2708116"/>
                </a:lnTo>
                <a:lnTo>
                  <a:pt x="31097" y="2704185"/>
                </a:lnTo>
                <a:lnTo>
                  <a:pt x="28589" y="2686011"/>
                </a:lnTo>
                <a:lnTo>
                  <a:pt x="13795" y="2656504"/>
                </a:lnTo>
                <a:cubicBezTo>
                  <a:pt x="56166" y="2648211"/>
                  <a:pt x="-6214" y="2580540"/>
                  <a:pt x="32108" y="2589493"/>
                </a:cubicBezTo>
                <a:cubicBezTo>
                  <a:pt x="22039" y="2539863"/>
                  <a:pt x="41060" y="2531259"/>
                  <a:pt x="32991" y="2457617"/>
                </a:cubicBezTo>
                <a:cubicBezTo>
                  <a:pt x="45635" y="2365891"/>
                  <a:pt x="40786" y="2284833"/>
                  <a:pt x="39071" y="2210817"/>
                </a:cubicBezTo>
                <a:cubicBezTo>
                  <a:pt x="39941" y="2106412"/>
                  <a:pt x="22396" y="1993081"/>
                  <a:pt x="19663" y="1901521"/>
                </a:cubicBezTo>
                <a:cubicBezTo>
                  <a:pt x="10670" y="1826286"/>
                  <a:pt x="4249" y="1796783"/>
                  <a:pt x="0" y="1700722"/>
                </a:cubicBezTo>
                <a:cubicBezTo>
                  <a:pt x="5587" y="1695223"/>
                  <a:pt x="14814" y="1668682"/>
                  <a:pt x="18023" y="1661610"/>
                </a:cubicBezTo>
                <a:lnTo>
                  <a:pt x="24668" y="1640073"/>
                </a:lnTo>
                <a:lnTo>
                  <a:pt x="23087" y="1637398"/>
                </a:lnTo>
                <a:cubicBezTo>
                  <a:pt x="19812" y="1625364"/>
                  <a:pt x="20811" y="1617807"/>
                  <a:pt x="23692" y="1612248"/>
                </a:cubicBezTo>
                <a:lnTo>
                  <a:pt x="41914" y="1498097"/>
                </a:lnTo>
                <a:lnTo>
                  <a:pt x="40195" y="1497364"/>
                </a:lnTo>
                <a:lnTo>
                  <a:pt x="37070" y="1490042"/>
                </a:lnTo>
                <a:lnTo>
                  <a:pt x="55020" y="1451416"/>
                </a:lnTo>
                <a:cubicBezTo>
                  <a:pt x="73102" y="1417430"/>
                  <a:pt x="80421" y="1313985"/>
                  <a:pt x="91616" y="1281781"/>
                </a:cubicBezTo>
                <a:cubicBezTo>
                  <a:pt x="137974" y="1171345"/>
                  <a:pt x="146547" y="1130634"/>
                  <a:pt x="166980" y="1074754"/>
                </a:cubicBezTo>
                <a:cubicBezTo>
                  <a:pt x="181651" y="1040817"/>
                  <a:pt x="190408" y="1034723"/>
                  <a:pt x="201075" y="1019094"/>
                </a:cubicBezTo>
                <a:cubicBezTo>
                  <a:pt x="207201" y="1005265"/>
                  <a:pt x="260932" y="958184"/>
                  <a:pt x="237042" y="938921"/>
                </a:cubicBezTo>
                <a:cubicBezTo>
                  <a:pt x="287348" y="869297"/>
                  <a:pt x="265291" y="876942"/>
                  <a:pt x="295369" y="815814"/>
                </a:cubicBezTo>
                <a:cubicBezTo>
                  <a:pt x="329951" y="751141"/>
                  <a:pt x="383834" y="609442"/>
                  <a:pt x="411453" y="584070"/>
                </a:cubicBezTo>
                <a:cubicBezTo>
                  <a:pt x="438653" y="530431"/>
                  <a:pt x="423178" y="516020"/>
                  <a:pt x="436475" y="461805"/>
                </a:cubicBezTo>
                <a:cubicBezTo>
                  <a:pt x="454281" y="438996"/>
                  <a:pt x="448264" y="386523"/>
                  <a:pt x="468429" y="360945"/>
                </a:cubicBezTo>
                <a:cubicBezTo>
                  <a:pt x="474686" y="267247"/>
                  <a:pt x="468220" y="285413"/>
                  <a:pt x="470922" y="226335"/>
                </a:cubicBezTo>
                <a:cubicBezTo>
                  <a:pt x="481883" y="180653"/>
                  <a:pt x="495229" y="85724"/>
                  <a:pt x="499717" y="51690"/>
                </a:cubicBezTo>
                <a:cubicBezTo>
                  <a:pt x="482601" y="39734"/>
                  <a:pt x="492651" y="34426"/>
                  <a:pt x="497850" y="22133"/>
                </a:cubicBezTo>
                <a:cubicBezTo>
                  <a:pt x="482148" y="14444"/>
                  <a:pt x="483752" y="7720"/>
                  <a:pt x="487145" y="1037"/>
                </a:cubicBezTo>
                <a:lnTo>
                  <a:pt x="487607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96D0D0-5339-B875-78C4-672E8C9AF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684" y="1562100"/>
            <a:ext cx="3795642" cy="3733800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Data Preprocessing (Power Query)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A94602-9A1E-1B47-CB45-E3AF217A5D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97840"/>
            <a:ext cx="5135592" cy="562673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Key Steps Performed:</a:t>
            </a:r>
            <a:endParaRPr lang="en-US" sz="1800" dirty="0"/>
          </a:p>
          <a:p>
            <a:r>
              <a:rPr lang="en-US" sz="1800" dirty="0"/>
              <a:t>Cleaned dataset by removing invalid and inconsistent records </a:t>
            </a:r>
          </a:p>
          <a:p>
            <a:r>
              <a:rPr lang="en-US" sz="1800" dirty="0"/>
              <a:t>Eliminated blank and incomplete entries </a:t>
            </a:r>
          </a:p>
          <a:p>
            <a:r>
              <a:rPr lang="en-US" sz="1800" dirty="0"/>
              <a:t>Filtered relevant data for accurate analysis </a:t>
            </a:r>
          </a:p>
          <a:p>
            <a:r>
              <a:rPr lang="en-US" sz="1800" dirty="0"/>
              <a:t>Renamed columns for better clarity and usability </a:t>
            </a:r>
          </a:p>
          <a:p>
            <a:r>
              <a:rPr lang="en-US" sz="1800" dirty="0"/>
              <a:t>Standardized categorical values (party names, gender, etc.) </a:t>
            </a:r>
          </a:p>
          <a:p>
            <a:r>
              <a:rPr lang="en-US" sz="1800" dirty="0"/>
              <a:t>Resolved inconsistencies using value replacements </a:t>
            </a:r>
            <a:br>
              <a:rPr lang="en-US" sz="1800" dirty="0"/>
            </a:b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Transformations:</a:t>
            </a:r>
            <a:endParaRPr lang="en-US" sz="1800" dirty="0"/>
          </a:p>
          <a:p>
            <a:r>
              <a:rPr lang="en-US" sz="1800" dirty="0"/>
              <a:t>Data type corrections (numeric and text fields) </a:t>
            </a:r>
          </a:p>
          <a:p>
            <a:r>
              <a:rPr lang="en-US" sz="1800" dirty="0"/>
              <a:t>Removal of errors and noise in data </a:t>
            </a:r>
          </a:p>
          <a:p>
            <a:r>
              <a:rPr lang="en-US" sz="1800" dirty="0"/>
              <a:t>Filtering of meaningful records </a:t>
            </a:r>
          </a:p>
          <a:p>
            <a:r>
              <a:rPr lang="en-US" sz="1800" dirty="0"/>
              <a:t>Standardization for uniform analysis</a:t>
            </a:r>
          </a:p>
          <a:p>
            <a:endParaRPr lang="en-IN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IN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52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F15A2D-2324-487D-A02A-BF46C5C58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2AEAFA59-923A-4F54-8B49-44C970BCC3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7E9D4B-7BFA-4D10-B666-547BAC499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E734229-3925-450B-2892-A85975DCC9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09" r="-2" b="-2"/>
          <a:stretch>
            <a:fillRect/>
          </a:stretch>
        </p:blipFill>
        <p:spPr>
          <a:xfrm>
            <a:off x="962163" y="877079"/>
            <a:ext cx="10271894" cy="50292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6384B36-E738-272C-8E07-51384635EA80}"/>
              </a:ext>
            </a:extLst>
          </p:cNvPr>
          <p:cNvSpPr txBox="1"/>
          <p:nvPr/>
        </p:nvSpPr>
        <p:spPr>
          <a:xfrm>
            <a:off x="501926" y="146688"/>
            <a:ext cx="60943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 PREPROCESSING </a:t>
            </a:r>
          </a:p>
        </p:txBody>
      </p:sp>
    </p:spTree>
    <p:extLst>
      <p:ext uri="{BB962C8B-B14F-4D97-AF65-F5344CB8AC3E}">
        <p14:creationId xmlns:p14="http://schemas.microsoft.com/office/powerpoint/2010/main" val="4291867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5C399-CF5B-F8B2-0416-95015E38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842965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DAX Calculations</a:t>
            </a:r>
            <a:endParaRPr lang="en-IN" sz="3600" dirty="0">
              <a:solidFill>
                <a:schemeClr val="tx2"/>
              </a:solidFill>
            </a:endParaRPr>
          </a:p>
        </p:txBody>
      </p:sp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59472A5D-81BB-FD57-E5D8-8156B22587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E2AC2F0C-C881-D8F9-8DBD-0E267B87892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16820294"/>
              </p:ext>
            </p:extLst>
          </p:nvPr>
        </p:nvGraphicFramePr>
        <p:xfrm>
          <a:off x="6090574" y="1889760"/>
          <a:ext cx="4977578" cy="41712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53048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515456E-B1B1-48C1-8164-7E567F5D4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CF0DC-D23A-4CA2-8463-27F8992834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B8A381C4-0C0D-491F-90D8-63CF760B4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5698">
            <a:off x="-195643" y="67946"/>
            <a:ext cx="6408310" cy="6912725"/>
          </a:xfrm>
          <a:custGeom>
            <a:avLst/>
            <a:gdLst>
              <a:gd name="connsiteX0" fmla="*/ 0 w 6408310"/>
              <a:gd name="connsiteY0" fmla="*/ 108934 h 6912725"/>
              <a:gd name="connsiteX1" fmla="*/ 1911522 w 6408310"/>
              <a:gd name="connsiteY1" fmla="*/ 0 h 6912725"/>
              <a:gd name="connsiteX2" fmla="*/ 1916026 w 6408310"/>
              <a:gd name="connsiteY2" fmla="*/ 4704 h 6912725"/>
              <a:gd name="connsiteX3" fmla="*/ 1911112 w 6408310"/>
              <a:gd name="connsiteY3" fmla="*/ 17418 h 6912725"/>
              <a:gd name="connsiteX4" fmla="*/ 1972871 w 6408310"/>
              <a:gd name="connsiteY4" fmla="*/ 72530 h 6912725"/>
              <a:gd name="connsiteX5" fmla="*/ 2069180 w 6408310"/>
              <a:gd name="connsiteY5" fmla="*/ 173199 h 6912725"/>
              <a:gd name="connsiteX6" fmla="*/ 2131569 w 6408310"/>
              <a:gd name="connsiteY6" fmla="*/ 227805 h 6912725"/>
              <a:gd name="connsiteX7" fmla="*/ 2162747 w 6408310"/>
              <a:gd name="connsiteY7" fmla="*/ 239714 h 6912725"/>
              <a:gd name="connsiteX8" fmla="*/ 2220499 w 6408310"/>
              <a:gd name="connsiteY8" fmla="*/ 289903 h 6912725"/>
              <a:gd name="connsiteX9" fmla="*/ 2381978 w 6408310"/>
              <a:gd name="connsiteY9" fmla="*/ 391093 h 6912725"/>
              <a:gd name="connsiteX10" fmla="*/ 2445910 w 6408310"/>
              <a:gd name="connsiteY10" fmla="*/ 463815 h 6912725"/>
              <a:gd name="connsiteX11" fmla="*/ 2531236 w 6408310"/>
              <a:gd name="connsiteY11" fmla="*/ 600817 h 6912725"/>
              <a:gd name="connsiteX12" fmla="*/ 2617149 w 6408310"/>
              <a:gd name="connsiteY12" fmla="*/ 703748 h 6912725"/>
              <a:gd name="connsiteX13" fmla="*/ 2650333 w 6408310"/>
              <a:gd name="connsiteY13" fmla="*/ 720900 h 6912725"/>
              <a:gd name="connsiteX14" fmla="*/ 2705541 w 6408310"/>
              <a:gd name="connsiteY14" fmla="*/ 750090 h 6912725"/>
              <a:gd name="connsiteX15" fmla="*/ 2757210 w 6408310"/>
              <a:gd name="connsiteY15" fmla="*/ 789489 h 6912725"/>
              <a:gd name="connsiteX16" fmla="*/ 2791660 w 6408310"/>
              <a:gd name="connsiteY16" fmla="*/ 816041 h 6912725"/>
              <a:gd name="connsiteX17" fmla="*/ 2840975 w 6408310"/>
              <a:gd name="connsiteY17" fmla="*/ 842225 h 6912725"/>
              <a:gd name="connsiteX18" fmla="*/ 2917970 w 6408310"/>
              <a:gd name="connsiteY18" fmla="*/ 879392 h 6912725"/>
              <a:gd name="connsiteX19" fmla="*/ 2957236 w 6408310"/>
              <a:gd name="connsiteY19" fmla="*/ 906835 h 6912725"/>
              <a:gd name="connsiteX20" fmla="*/ 3117215 w 6408310"/>
              <a:gd name="connsiteY20" fmla="*/ 1073714 h 6912725"/>
              <a:gd name="connsiteX21" fmla="*/ 3250958 w 6408310"/>
              <a:gd name="connsiteY21" fmla="*/ 1130397 h 6912725"/>
              <a:gd name="connsiteX22" fmla="*/ 3496717 w 6408310"/>
              <a:gd name="connsiteY22" fmla="*/ 1260412 h 6912725"/>
              <a:gd name="connsiteX23" fmla="*/ 3494992 w 6408310"/>
              <a:gd name="connsiteY23" fmla="*/ 1268283 h 6912725"/>
              <a:gd name="connsiteX24" fmla="*/ 3508993 w 6408310"/>
              <a:gd name="connsiteY24" fmla="*/ 1287737 h 6912725"/>
              <a:gd name="connsiteX25" fmla="*/ 3512115 w 6408310"/>
              <a:gd name="connsiteY25" fmla="*/ 1288544 h 6912725"/>
              <a:gd name="connsiteX26" fmla="*/ 3548697 w 6408310"/>
              <a:gd name="connsiteY26" fmla="*/ 1363739 h 6912725"/>
              <a:gd name="connsiteX27" fmla="*/ 3656567 w 6408310"/>
              <a:gd name="connsiteY27" fmla="*/ 1479533 h 6912725"/>
              <a:gd name="connsiteX28" fmla="*/ 3661987 w 6408310"/>
              <a:gd name="connsiteY28" fmla="*/ 1491779 h 6912725"/>
              <a:gd name="connsiteX29" fmla="*/ 3667389 w 6408310"/>
              <a:gd name="connsiteY29" fmla="*/ 1495409 h 6912725"/>
              <a:gd name="connsiteX30" fmla="*/ 3800461 w 6408310"/>
              <a:gd name="connsiteY30" fmla="*/ 1696689 h 6912725"/>
              <a:gd name="connsiteX31" fmla="*/ 3933737 w 6408310"/>
              <a:gd name="connsiteY31" fmla="*/ 1853325 h 6912725"/>
              <a:gd name="connsiteX32" fmla="*/ 3946446 w 6408310"/>
              <a:gd name="connsiteY32" fmla="*/ 1903446 h 6912725"/>
              <a:gd name="connsiteX33" fmla="*/ 3960581 w 6408310"/>
              <a:gd name="connsiteY33" fmla="*/ 1913244 h 6912725"/>
              <a:gd name="connsiteX34" fmla="*/ 4015111 w 6408310"/>
              <a:gd name="connsiteY34" fmla="*/ 1956512 h 6912725"/>
              <a:gd name="connsiteX35" fmla="*/ 4070740 w 6408310"/>
              <a:gd name="connsiteY35" fmla="*/ 1999693 h 6912725"/>
              <a:gd name="connsiteX36" fmla="*/ 4091495 w 6408310"/>
              <a:gd name="connsiteY36" fmla="*/ 2064313 h 6912725"/>
              <a:gd name="connsiteX37" fmla="*/ 4118353 w 6408310"/>
              <a:gd name="connsiteY37" fmla="*/ 2073901 h 6912725"/>
              <a:gd name="connsiteX38" fmla="*/ 4123293 w 6408310"/>
              <a:gd name="connsiteY38" fmla="*/ 2075261 h 6912725"/>
              <a:gd name="connsiteX39" fmla="*/ 4166582 w 6408310"/>
              <a:gd name="connsiteY39" fmla="*/ 2120685 h 6912725"/>
              <a:gd name="connsiteX40" fmla="*/ 4213721 w 6408310"/>
              <a:gd name="connsiteY40" fmla="*/ 2168493 h 6912725"/>
              <a:gd name="connsiteX41" fmla="*/ 4250795 w 6408310"/>
              <a:gd name="connsiteY41" fmla="*/ 2261746 h 6912725"/>
              <a:gd name="connsiteX42" fmla="*/ 4295408 w 6408310"/>
              <a:gd name="connsiteY42" fmla="*/ 2340515 h 6912725"/>
              <a:gd name="connsiteX43" fmla="*/ 4318976 w 6408310"/>
              <a:gd name="connsiteY43" fmla="*/ 2371504 h 6912725"/>
              <a:gd name="connsiteX44" fmla="*/ 4323314 w 6408310"/>
              <a:gd name="connsiteY44" fmla="*/ 2378166 h 6912725"/>
              <a:gd name="connsiteX45" fmla="*/ 4323235 w 6408310"/>
              <a:gd name="connsiteY45" fmla="*/ 2378475 h 6912725"/>
              <a:gd name="connsiteX46" fmla="*/ 4327479 w 6408310"/>
              <a:gd name="connsiteY46" fmla="*/ 2385858 h 6912725"/>
              <a:gd name="connsiteX47" fmla="*/ 4331226 w 6408310"/>
              <a:gd name="connsiteY47" fmla="*/ 2390318 h 6912725"/>
              <a:gd name="connsiteX48" fmla="*/ 4339643 w 6408310"/>
              <a:gd name="connsiteY48" fmla="*/ 2403246 h 6912725"/>
              <a:gd name="connsiteX49" fmla="*/ 4341435 w 6408310"/>
              <a:gd name="connsiteY49" fmla="*/ 2408870 h 6912725"/>
              <a:gd name="connsiteX50" fmla="*/ 4340548 w 6408310"/>
              <a:gd name="connsiteY50" fmla="*/ 2412798 h 6912725"/>
              <a:gd name="connsiteX51" fmla="*/ 4351634 w 6408310"/>
              <a:gd name="connsiteY51" fmla="*/ 2443869 h 6912725"/>
              <a:gd name="connsiteX52" fmla="*/ 4380688 w 6408310"/>
              <a:gd name="connsiteY52" fmla="*/ 2504819 h 6912725"/>
              <a:gd name="connsiteX53" fmla="*/ 4399892 w 6408310"/>
              <a:gd name="connsiteY53" fmla="*/ 2537002 h 6912725"/>
              <a:gd name="connsiteX54" fmla="*/ 4449690 w 6408310"/>
              <a:gd name="connsiteY54" fmla="*/ 2628144 h 6912725"/>
              <a:gd name="connsiteX55" fmla="*/ 4512427 w 6408310"/>
              <a:gd name="connsiteY55" fmla="*/ 2840755 h 6912725"/>
              <a:gd name="connsiteX56" fmla="*/ 4591091 w 6408310"/>
              <a:gd name="connsiteY56" fmla="*/ 3036586 h 6912725"/>
              <a:gd name="connsiteX57" fmla="*/ 4757297 w 6408310"/>
              <a:gd name="connsiteY57" fmla="*/ 3388741 h 6912725"/>
              <a:gd name="connsiteX58" fmla="*/ 4755264 w 6408310"/>
              <a:gd name="connsiteY58" fmla="*/ 3461211 h 6912725"/>
              <a:gd name="connsiteX59" fmla="*/ 4776842 w 6408310"/>
              <a:gd name="connsiteY59" fmla="*/ 3503606 h 6912725"/>
              <a:gd name="connsiteX60" fmla="*/ 4815953 w 6408310"/>
              <a:gd name="connsiteY60" fmla="*/ 3543897 h 6912725"/>
              <a:gd name="connsiteX61" fmla="*/ 4826382 w 6408310"/>
              <a:gd name="connsiteY61" fmla="*/ 3589602 h 6912725"/>
              <a:gd name="connsiteX62" fmla="*/ 4900664 w 6408310"/>
              <a:gd name="connsiteY62" fmla="*/ 3697326 h 6912725"/>
              <a:gd name="connsiteX63" fmla="*/ 4944717 w 6408310"/>
              <a:gd name="connsiteY63" fmla="*/ 3795461 h 6912725"/>
              <a:gd name="connsiteX64" fmla="*/ 4981260 w 6408310"/>
              <a:gd name="connsiteY64" fmla="*/ 3887734 h 6912725"/>
              <a:gd name="connsiteX65" fmla="*/ 5000423 w 6408310"/>
              <a:gd name="connsiteY65" fmla="*/ 3933089 h 6912725"/>
              <a:gd name="connsiteX66" fmla="*/ 5033013 w 6408310"/>
              <a:gd name="connsiteY66" fmla="*/ 3937041 h 6912725"/>
              <a:gd name="connsiteX67" fmla="*/ 5081597 w 6408310"/>
              <a:gd name="connsiteY67" fmla="*/ 4013154 h 6912725"/>
              <a:gd name="connsiteX68" fmla="*/ 5088052 w 6408310"/>
              <a:gd name="connsiteY68" fmla="*/ 4027525 h 6912725"/>
              <a:gd name="connsiteX69" fmla="*/ 5189054 w 6408310"/>
              <a:gd name="connsiteY69" fmla="*/ 4098668 h 6912725"/>
              <a:gd name="connsiteX70" fmla="*/ 5228545 w 6408310"/>
              <a:gd name="connsiteY70" fmla="*/ 4146658 h 6912725"/>
              <a:gd name="connsiteX71" fmla="*/ 5268336 w 6408310"/>
              <a:gd name="connsiteY71" fmla="*/ 4194504 h 6912725"/>
              <a:gd name="connsiteX72" fmla="*/ 5317950 w 6408310"/>
              <a:gd name="connsiteY72" fmla="*/ 4267325 h 6912725"/>
              <a:gd name="connsiteX73" fmla="*/ 5598270 w 6408310"/>
              <a:gd name="connsiteY73" fmla="*/ 4563876 h 6912725"/>
              <a:gd name="connsiteX74" fmla="*/ 5833068 w 6408310"/>
              <a:gd name="connsiteY74" fmla="*/ 5016605 h 6912725"/>
              <a:gd name="connsiteX75" fmla="*/ 6045916 w 6408310"/>
              <a:gd name="connsiteY75" fmla="*/ 5405287 h 6912725"/>
              <a:gd name="connsiteX76" fmla="*/ 6117737 w 6408310"/>
              <a:gd name="connsiteY76" fmla="*/ 5538137 h 6912725"/>
              <a:gd name="connsiteX77" fmla="*/ 6144230 w 6408310"/>
              <a:gd name="connsiteY77" fmla="*/ 5635151 h 6912725"/>
              <a:gd name="connsiteX78" fmla="*/ 6176742 w 6408310"/>
              <a:gd name="connsiteY78" fmla="*/ 5809044 h 6912725"/>
              <a:gd name="connsiteX79" fmla="*/ 6245199 w 6408310"/>
              <a:gd name="connsiteY79" fmla="*/ 6038018 h 6912725"/>
              <a:gd name="connsiteX80" fmla="*/ 6303931 w 6408310"/>
              <a:gd name="connsiteY80" fmla="*/ 6175618 h 6912725"/>
              <a:gd name="connsiteX81" fmla="*/ 6336313 w 6408310"/>
              <a:gd name="connsiteY81" fmla="*/ 6345837 h 6912725"/>
              <a:gd name="connsiteX82" fmla="*/ 6401195 w 6408310"/>
              <a:gd name="connsiteY82" fmla="*/ 6542084 h 6912725"/>
              <a:gd name="connsiteX83" fmla="*/ 6408310 w 6408310"/>
              <a:gd name="connsiteY83" fmla="*/ 6612865 h 6912725"/>
              <a:gd name="connsiteX84" fmla="*/ 1146484 w 6408310"/>
              <a:gd name="connsiteY84" fmla="*/ 6912725 h 6912725"/>
              <a:gd name="connsiteX85" fmla="*/ 1108438 w 6408310"/>
              <a:gd name="connsiteY85" fmla="*/ 6825083 h 6912725"/>
              <a:gd name="connsiteX86" fmla="*/ 997867 w 6408310"/>
              <a:gd name="connsiteY86" fmla="*/ 6378703 h 6912725"/>
              <a:gd name="connsiteX87" fmla="*/ 858750 w 6408310"/>
              <a:gd name="connsiteY87" fmla="*/ 5923784 h 6912725"/>
              <a:gd name="connsiteX88" fmla="*/ 860408 w 6408310"/>
              <a:gd name="connsiteY88" fmla="*/ 5860728 h 6912725"/>
              <a:gd name="connsiteX89" fmla="*/ 853644 w 6408310"/>
              <a:gd name="connsiteY89" fmla="*/ 5771381 h 6912725"/>
              <a:gd name="connsiteX90" fmla="*/ 852164 w 6408310"/>
              <a:gd name="connsiteY90" fmla="*/ 5615193 h 6912725"/>
              <a:gd name="connsiteX91" fmla="*/ 831986 w 6408310"/>
              <a:gd name="connsiteY91" fmla="*/ 5402745 h 6912725"/>
              <a:gd name="connsiteX92" fmla="*/ 759590 w 6408310"/>
              <a:gd name="connsiteY92" fmla="*/ 5239800 h 6912725"/>
              <a:gd name="connsiteX93" fmla="*/ 767251 w 6408310"/>
              <a:gd name="connsiteY93" fmla="*/ 5227414 h 6912725"/>
              <a:gd name="connsiteX94" fmla="*/ 745427 w 6408310"/>
              <a:gd name="connsiteY94" fmla="*/ 5118958 h 6912725"/>
              <a:gd name="connsiteX95" fmla="*/ 635950 w 6408310"/>
              <a:gd name="connsiteY95" fmla="*/ 4788294 h 6912725"/>
              <a:gd name="connsiteX96" fmla="*/ 558787 w 6408310"/>
              <a:gd name="connsiteY96" fmla="*/ 4518070 h 6912725"/>
              <a:gd name="connsiteX97" fmla="*/ 555530 w 6408310"/>
              <a:gd name="connsiteY97" fmla="*/ 4444433 h 6912725"/>
              <a:gd name="connsiteX98" fmla="*/ 549378 w 6408310"/>
              <a:gd name="connsiteY98" fmla="*/ 4320965 h 6912725"/>
              <a:gd name="connsiteX99" fmla="*/ 572361 w 6408310"/>
              <a:gd name="connsiteY99" fmla="*/ 4232369 h 6912725"/>
              <a:gd name="connsiteX100" fmla="*/ 556288 w 6408310"/>
              <a:gd name="connsiteY100" fmla="*/ 4127673 h 6912725"/>
              <a:gd name="connsiteX101" fmla="*/ 506660 w 6408310"/>
              <a:gd name="connsiteY101" fmla="*/ 3821119 h 6912725"/>
              <a:gd name="connsiteX102" fmla="*/ 494791 w 6408310"/>
              <a:gd name="connsiteY102" fmla="*/ 3723556 h 6912725"/>
              <a:gd name="connsiteX103" fmla="*/ 490230 w 6408310"/>
              <a:gd name="connsiteY103" fmla="*/ 3508893 h 6912725"/>
              <a:gd name="connsiteX104" fmla="*/ 484223 w 6408310"/>
              <a:gd name="connsiteY104" fmla="*/ 3233179 h 6912725"/>
              <a:gd name="connsiteX105" fmla="*/ 460329 w 6408310"/>
              <a:gd name="connsiteY105" fmla="*/ 3041244 h 6912725"/>
              <a:gd name="connsiteX106" fmla="*/ 407197 w 6408310"/>
              <a:gd name="connsiteY106" fmla="*/ 2812292 h 6912725"/>
              <a:gd name="connsiteX107" fmla="*/ 386122 w 6408310"/>
              <a:gd name="connsiteY107" fmla="*/ 2757841 h 6912725"/>
              <a:gd name="connsiteX108" fmla="*/ 363684 w 6408310"/>
              <a:gd name="connsiteY108" fmla="*/ 2714608 h 6912725"/>
              <a:gd name="connsiteX109" fmla="*/ 330746 w 6408310"/>
              <a:gd name="connsiteY109" fmla="*/ 2625146 h 6912725"/>
              <a:gd name="connsiteX110" fmla="*/ 299927 w 6408310"/>
              <a:gd name="connsiteY110" fmla="*/ 2566177 h 6912725"/>
              <a:gd name="connsiteX111" fmla="*/ 288272 w 6408310"/>
              <a:gd name="connsiteY111" fmla="*/ 2439923 h 6912725"/>
              <a:gd name="connsiteX112" fmla="*/ 233611 w 6408310"/>
              <a:gd name="connsiteY112" fmla="*/ 2326248 h 6912725"/>
              <a:gd name="connsiteX113" fmla="*/ 115057 w 6408310"/>
              <a:gd name="connsiteY113" fmla="*/ 2127916 h 691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</a:cxnLst>
            <a:rect l="l" t="t" r="r" b="b"/>
            <a:pathLst>
              <a:path w="6408310" h="6912725">
                <a:moveTo>
                  <a:pt x="0" y="108934"/>
                </a:moveTo>
                <a:lnTo>
                  <a:pt x="1911522" y="0"/>
                </a:lnTo>
                <a:lnTo>
                  <a:pt x="1916026" y="4704"/>
                </a:lnTo>
                <a:cubicBezTo>
                  <a:pt x="1916562" y="7914"/>
                  <a:pt x="1915147" y="12061"/>
                  <a:pt x="1911112" y="17418"/>
                </a:cubicBezTo>
                <a:cubicBezTo>
                  <a:pt x="1943271" y="27853"/>
                  <a:pt x="1947645" y="36373"/>
                  <a:pt x="1972871" y="72530"/>
                </a:cubicBezTo>
                <a:cubicBezTo>
                  <a:pt x="1980767" y="117667"/>
                  <a:pt x="2061296" y="115435"/>
                  <a:pt x="2069180" y="173199"/>
                </a:cubicBezTo>
                <a:cubicBezTo>
                  <a:pt x="2075196" y="191586"/>
                  <a:pt x="2112853" y="231006"/>
                  <a:pt x="2131569" y="227805"/>
                </a:cubicBezTo>
                <a:cubicBezTo>
                  <a:pt x="2141808" y="233828"/>
                  <a:pt x="2146631" y="247405"/>
                  <a:pt x="2162747" y="239714"/>
                </a:cubicBezTo>
                <a:cubicBezTo>
                  <a:pt x="2183739" y="232191"/>
                  <a:pt x="2206491" y="310465"/>
                  <a:pt x="2220499" y="289903"/>
                </a:cubicBezTo>
                <a:cubicBezTo>
                  <a:pt x="2257038" y="315132"/>
                  <a:pt x="2344409" y="362107"/>
                  <a:pt x="2381978" y="391093"/>
                </a:cubicBezTo>
                <a:cubicBezTo>
                  <a:pt x="2419547" y="420079"/>
                  <a:pt x="2445794" y="442621"/>
                  <a:pt x="2445910" y="463815"/>
                </a:cubicBezTo>
                <a:cubicBezTo>
                  <a:pt x="2462109" y="546053"/>
                  <a:pt x="2496860" y="553382"/>
                  <a:pt x="2531236" y="600817"/>
                </a:cubicBezTo>
                <a:cubicBezTo>
                  <a:pt x="2573647" y="650501"/>
                  <a:pt x="2589314" y="613369"/>
                  <a:pt x="2617149" y="703748"/>
                </a:cubicBezTo>
                <a:cubicBezTo>
                  <a:pt x="2635983" y="695546"/>
                  <a:pt x="2643943" y="702017"/>
                  <a:pt x="2650333" y="720900"/>
                </a:cubicBezTo>
                <a:cubicBezTo>
                  <a:pt x="2671881" y="743975"/>
                  <a:pt x="2701744" y="706344"/>
                  <a:pt x="2705541" y="750090"/>
                </a:cubicBezTo>
                <a:cubicBezTo>
                  <a:pt x="2730861" y="760850"/>
                  <a:pt x="2742856" y="778498"/>
                  <a:pt x="2757210" y="789489"/>
                </a:cubicBezTo>
                <a:cubicBezTo>
                  <a:pt x="2776836" y="801882"/>
                  <a:pt x="2774652" y="796949"/>
                  <a:pt x="2791660" y="816041"/>
                </a:cubicBezTo>
                <a:cubicBezTo>
                  <a:pt x="2815343" y="835699"/>
                  <a:pt x="2784183" y="871086"/>
                  <a:pt x="2840975" y="842225"/>
                </a:cubicBezTo>
                <a:cubicBezTo>
                  <a:pt x="2854681" y="875427"/>
                  <a:pt x="2877032" y="859395"/>
                  <a:pt x="2917970" y="879392"/>
                </a:cubicBezTo>
                <a:cubicBezTo>
                  <a:pt x="2921487" y="903353"/>
                  <a:pt x="2937122" y="907916"/>
                  <a:pt x="2957236" y="906835"/>
                </a:cubicBezTo>
                <a:lnTo>
                  <a:pt x="3117215" y="1073714"/>
                </a:lnTo>
                <a:cubicBezTo>
                  <a:pt x="3153906" y="1089285"/>
                  <a:pt x="3232612" y="1124062"/>
                  <a:pt x="3250958" y="1130397"/>
                </a:cubicBezTo>
                <a:cubicBezTo>
                  <a:pt x="3409574" y="1172733"/>
                  <a:pt x="3456045" y="1237431"/>
                  <a:pt x="3496717" y="1260412"/>
                </a:cubicBezTo>
                <a:lnTo>
                  <a:pt x="3494992" y="1268283"/>
                </a:lnTo>
                <a:cubicBezTo>
                  <a:pt x="3495362" y="1274688"/>
                  <a:pt x="3498760" y="1281160"/>
                  <a:pt x="3508993" y="1287737"/>
                </a:cubicBezTo>
                <a:lnTo>
                  <a:pt x="3512115" y="1288544"/>
                </a:lnTo>
                <a:lnTo>
                  <a:pt x="3548697" y="1363739"/>
                </a:lnTo>
                <a:cubicBezTo>
                  <a:pt x="3572773" y="1395571"/>
                  <a:pt x="3623148" y="1421050"/>
                  <a:pt x="3656567" y="1479533"/>
                </a:cubicBezTo>
                <a:lnTo>
                  <a:pt x="3661987" y="1491779"/>
                </a:lnTo>
                <a:lnTo>
                  <a:pt x="3667389" y="1495409"/>
                </a:lnTo>
                <a:lnTo>
                  <a:pt x="3800461" y="1696689"/>
                </a:lnTo>
                <a:cubicBezTo>
                  <a:pt x="3835546" y="1747791"/>
                  <a:pt x="3913146" y="1811386"/>
                  <a:pt x="3933737" y="1853325"/>
                </a:cubicBezTo>
                <a:lnTo>
                  <a:pt x="3946446" y="1903446"/>
                </a:lnTo>
                <a:lnTo>
                  <a:pt x="3960581" y="1913244"/>
                </a:lnTo>
                <a:cubicBezTo>
                  <a:pt x="3979608" y="1926434"/>
                  <a:pt x="3998210" y="1940240"/>
                  <a:pt x="4015111" y="1956512"/>
                </a:cubicBezTo>
                <a:cubicBezTo>
                  <a:pt x="4083226" y="1956238"/>
                  <a:pt x="4031943" y="1969929"/>
                  <a:pt x="4070740" y="1999693"/>
                </a:cubicBezTo>
                <a:cubicBezTo>
                  <a:pt x="4027554" y="2022282"/>
                  <a:pt x="4128681" y="2025600"/>
                  <a:pt x="4091495" y="2064313"/>
                </a:cubicBezTo>
                <a:cubicBezTo>
                  <a:pt x="4099733" y="2068504"/>
                  <a:pt x="4108887" y="2071343"/>
                  <a:pt x="4118353" y="2073901"/>
                </a:cubicBezTo>
                <a:lnTo>
                  <a:pt x="4123293" y="2075261"/>
                </a:lnTo>
                <a:lnTo>
                  <a:pt x="4166582" y="2120685"/>
                </a:lnTo>
                <a:lnTo>
                  <a:pt x="4213721" y="2168493"/>
                </a:lnTo>
                <a:lnTo>
                  <a:pt x="4250795" y="2261746"/>
                </a:lnTo>
                <a:lnTo>
                  <a:pt x="4295408" y="2340515"/>
                </a:lnTo>
                <a:cubicBezTo>
                  <a:pt x="4303294" y="2350172"/>
                  <a:pt x="4311232" y="2360551"/>
                  <a:pt x="4318976" y="2371504"/>
                </a:cubicBezTo>
                <a:lnTo>
                  <a:pt x="4323314" y="2378166"/>
                </a:lnTo>
                <a:cubicBezTo>
                  <a:pt x="4323288" y="2378269"/>
                  <a:pt x="4323261" y="2378372"/>
                  <a:pt x="4323235" y="2378475"/>
                </a:cubicBezTo>
                <a:cubicBezTo>
                  <a:pt x="4323820" y="2380303"/>
                  <a:pt x="4325112" y="2382633"/>
                  <a:pt x="4327479" y="2385858"/>
                </a:cubicBezTo>
                <a:lnTo>
                  <a:pt x="4331226" y="2390318"/>
                </a:lnTo>
                <a:lnTo>
                  <a:pt x="4339643" y="2403246"/>
                </a:lnTo>
                <a:lnTo>
                  <a:pt x="4341435" y="2408870"/>
                </a:lnTo>
                <a:lnTo>
                  <a:pt x="4340548" y="2412798"/>
                </a:lnTo>
                <a:lnTo>
                  <a:pt x="4351634" y="2443869"/>
                </a:lnTo>
                <a:cubicBezTo>
                  <a:pt x="4370557" y="2458176"/>
                  <a:pt x="4365119" y="2472379"/>
                  <a:pt x="4380688" y="2504819"/>
                </a:cubicBezTo>
                <a:cubicBezTo>
                  <a:pt x="4393528" y="2510493"/>
                  <a:pt x="4397884" y="2522485"/>
                  <a:pt x="4399892" y="2537002"/>
                </a:cubicBezTo>
                <a:cubicBezTo>
                  <a:pt x="4420218" y="2562143"/>
                  <a:pt x="4430910" y="2594831"/>
                  <a:pt x="4449690" y="2628144"/>
                </a:cubicBezTo>
                <a:cubicBezTo>
                  <a:pt x="4468446" y="2678770"/>
                  <a:pt x="4488860" y="2772681"/>
                  <a:pt x="4512427" y="2840755"/>
                </a:cubicBezTo>
                <a:lnTo>
                  <a:pt x="4591091" y="3036586"/>
                </a:lnTo>
                <a:cubicBezTo>
                  <a:pt x="4639934" y="3158078"/>
                  <a:pt x="4730818" y="3310586"/>
                  <a:pt x="4757297" y="3388741"/>
                </a:cubicBezTo>
                <a:cubicBezTo>
                  <a:pt x="4756620" y="3412898"/>
                  <a:pt x="4755942" y="3437054"/>
                  <a:pt x="4755264" y="3461211"/>
                </a:cubicBezTo>
                <a:cubicBezTo>
                  <a:pt x="4763881" y="3469559"/>
                  <a:pt x="4774382" y="3498341"/>
                  <a:pt x="4776842" y="3503606"/>
                </a:cubicBezTo>
                <a:cubicBezTo>
                  <a:pt x="4776789" y="3503947"/>
                  <a:pt x="4816006" y="3543555"/>
                  <a:pt x="4815953" y="3543897"/>
                </a:cubicBezTo>
                <a:lnTo>
                  <a:pt x="4826382" y="3589602"/>
                </a:lnTo>
                <a:cubicBezTo>
                  <a:pt x="4854724" y="3618181"/>
                  <a:pt x="4872282" y="3672884"/>
                  <a:pt x="4900664" y="3697326"/>
                </a:cubicBezTo>
                <a:cubicBezTo>
                  <a:pt x="4872593" y="3751610"/>
                  <a:pt x="4889332" y="3712092"/>
                  <a:pt x="4944717" y="3795461"/>
                </a:cubicBezTo>
                <a:cubicBezTo>
                  <a:pt x="4981269" y="3830092"/>
                  <a:pt x="4951776" y="3836266"/>
                  <a:pt x="4981260" y="3887734"/>
                </a:cubicBezTo>
                <a:cubicBezTo>
                  <a:pt x="4992187" y="3900180"/>
                  <a:pt x="5000945" y="3922491"/>
                  <a:pt x="5000423" y="3933089"/>
                </a:cubicBezTo>
                <a:lnTo>
                  <a:pt x="5033013" y="3937041"/>
                </a:lnTo>
                <a:lnTo>
                  <a:pt x="5081597" y="4013154"/>
                </a:lnTo>
                <a:lnTo>
                  <a:pt x="5088052" y="4027525"/>
                </a:lnTo>
                <a:lnTo>
                  <a:pt x="5189054" y="4098668"/>
                </a:lnTo>
                <a:lnTo>
                  <a:pt x="5228545" y="4146658"/>
                </a:lnTo>
                <a:lnTo>
                  <a:pt x="5268336" y="4194504"/>
                </a:lnTo>
                <a:cubicBezTo>
                  <a:pt x="5282676" y="4201217"/>
                  <a:pt x="5302948" y="4267012"/>
                  <a:pt x="5317950" y="4267325"/>
                </a:cubicBezTo>
                <a:cubicBezTo>
                  <a:pt x="5371561" y="4431932"/>
                  <a:pt x="5512417" y="4438996"/>
                  <a:pt x="5598270" y="4563876"/>
                </a:cubicBezTo>
                <a:cubicBezTo>
                  <a:pt x="5684123" y="4688756"/>
                  <a:pt x="5658748" y="4766617"/>
                  <a:pt x="5833068" y="5016605"/>
                </a:cubicBezTo>
                <a:cubicBezTo>
                  <a:pt x="5917959" y="5167124"/>
                  <a:pt x="6007541" y="5258633"/>
                  <a:pt x="6045916" y="5405287"/>
                </a:cubicBezTo>
                <a:cubicBezTo>
                  <a:pt x="6053001" y="5431110"/>
                  <a:pt x="6137180" y="5517469"/>
                  <a:pt x="6117737" y="5538137"/>
                </a:cubicBezTo>
                <a:cubicBezTo>
                  <a:pt x="6096856" y="5567956"/>
                  <a:pt x="6185855" y="5633330"/>
                  <a:pt x="6144230" y="5635151"/>
                </a:cubicBezTo>
                <a:cubicBezTo>
                  <a:pt x="6206267" y="5682015"/>
                  <a:pt x="6167034" y="5753331"/>
                  <a:pt x="6176742" y="5809044"/>
                </a:cubicBezTo>
                <a:cubicBezTo>
                  <a:pt x="6181644" y="5871497"/>
                  <a:pt x="6197878" y="5926431"/>
                  <a:pt x="6245199" y="6038018"/>
                </a:cubicBezTo>
                <a:cubicBezTo>
                  <a:pt x="6276717" y="6104340"/>
                  <a:pt x="6288745" y="6124315"/>
                  <a:pt x="6303931" y="6175618"/>
                </a:cubicBezTo>
                <a:cubicBezTo>
                  <a:pt x="6319117" y="6226921"/>
                  <a:pt x="6298592" y="6320971"/>
                  <a:pt x="6336313" y="6345837"/>
                </a:cubicBezTo>
                <a:cubicBezTo>
                  <a:pt x="6368454" y="6400251"/>
                  <a:pt x="6388884" y="6464262"/>
                  <a:pt x="6401195" y="6542084"/>
                </a:cubicBezTo>
                <a:lnTo>
                  <a:pt x="6408310" y="6612865"/>
                </a:lnTo>
                <a:lnTo>
                  <a:pt x="1146484" y="6912725"/>
                </a:lnTo>
                <a:lnTo>
                  <a:pt x="1108438" y="6825083"/>
                </a:lnTo>
                <a:cubicBezTo>
                  <a:pt x="1057133" y="6684904"/>
                  <a:pt x="1090669" y="6637010"/>
                  <a:pt x="997867" y="6378703"/>
                </a:cubicBezTo>
                <a:cubicBezTo>
                  <a:pt x="956253" y="6228487"/>
                  <a:pt x="874761" y="6010797"/>
                  <a:pt x="858750" y="5923784"/>
                </a:cubicBezTo>
                <a:cubicBezTo>
                  <a:pt x="856924" y="5899993"/>
                  <a:pt x="844018" y="5873122"/>
                  <a:pt x="860408" y="5860728"/>
                </a:cubicBezTo>
                <a:cubicBezTo>
                  <a:pt x="878957" y="5840950"/>
                  <a:pt x="823834" y="5761906"/>
                  <a:pt x="853644" y="5771381"/>
                </a:cubicBezTo>
                <a:cubicBezTo>
                  <a:pt x="815383" y="5715186"/>
                  <a:pt x="852133" y="5665047"/>
                  <a:pt x="852164" y="5615193"/>
                </a:cubicBezTo>
                <a:cubicBezTo>
                  <a:pt x="817076" y="5571334"/>
                  <a:pt x="851740" y="5509975"/>
                  <a:pt x="831986" y="5402745"/>
                </a:cubicBezTo>
                <a:cubicBezTo>
                  <a:pt x="792037" y="5354630"/>
                  <a:pt x="819063" y="5330513"/>
                  <a:pt x="759590" y="5239800"/>
                </a:cubicBezTo>
                <a:cubicBezTo>
                  <a:pt x="762665" y="5236543"/>
                  <a:pt x="765245" y="5232371"/>
                  <a:pt x="767251" y="5227414"/>
                </a:cubicBezTo>
                <a:cubicBezTo>
                  <a:pt x="778914" y="5198604"/>
                  <a:pt x="769142" y="5150045"/>
                  <a:pt x="745427" y="5118958"/>
                </a:cubicBezTo>
                <a:cubicBezTo>
                  <a:pt x="660991" y="4975263"/>
                  <a:pt x="672599" y="4907855"/>
                  <a:pt x="635950" y="4788294"/>
                </a:cubicBezTo>
                <a:cubicBezTo>
                  <a:pt x="600650" y="4653678"/>
                  <a:pt x="646752" y="4690694"/>
                  <a:pt x="558787" y="4518070"/>
                </a:cubicBezTo>
                <a:cubicBezTo>
                  <a:pt x="577057" y="4502442"/>
                  <a:pt x="573633" y="4481342"/>
                  <a:pt x="555530" y="4444433"/>
                </a:cubicBezTo>
                <a:cubicBezTo>
                  <a:pt x="540027" y="4379200"/>
                  <a:pt x="596616" y="4390343"/>
                  <a:pt x="549378" y="4320965"/>
                </a:cubicBezTo>
                <a:cubicBezTo>
                  <a:pt x="581692" y="4336040"/>
                  <a:pt x="535024" y="4198883"/>
                  <a:pt x="572361" y="4232369"/>
                </a:cubicBezTo>
                <a:cubicBezTo>
                  <a:pt x="590648" y="4193014"/>
                  <a:pt x="541489" y="4167113"/>
                  <a:pt x="556288" y="4127673"/>
                </a:cubicBezTo>
                <a:lnTo>
                  <a:pt x="506660" y="3821119"/>
                </a:lnTo>
                <a:cubicBezTo>
                  <a:pt x="481478" y="3781010"/>
                  <a:pt x="483894" y="3751446"/>
                  <a:pt x="494791" y="3723556"/>
                </a:cubicBezTo>
                <a:cubicBezTo>
                  <a:pt x="472516" y="3634460"/>
                  <a:pt x="499836" y="3607209"/>
                  <a:pt x="490230" y="3508893"/>
                </a:cubicBezTo>
                <a:cubicBezTo>
                  <a:pt x="525541" y="3397546"/>
                  <a:pt x="482951" y="3307116"/>
                  <a:pt x="484223" y="3233179"/>
                </a:cubicBezTo>
                <a:cubicBezTo>
                  <a:pt x="465844" y="3133672"/>
                  <a:pt x="460855" y="3219289"/>
                  <a:pt x="460329" y="3041244"/>
                </a:cubicBezTo>
                <a:lnTo>
                  <a:pt x="407197" y="2812292"/>
                </a:lnTo>
                <a:cubicBezTo>
                  <a:pt x="391019" y="2768219"/>
                  <a:pt x="344571" y="2745090"/>
                  <a:pt x="386122" y="2757841"/>
                </a:cubicBezTo>
                <a:cubicBezTo>
                  <a:pt x="381879" y="2743275"/>
                  <a:pt x="360306" y="2721346"/>
                  <a:pt x="363684" y="2714608"/>
                </a:cubicBezTo>
                <a:lnTo>
                  <a:pt x="330746" y="2625146"/>
                </a:lnTo>
                <a:lnTo>
                  <a:pt x="299927" y="2566177"/>
                </a:lnTo>
                <a:cubicBezTo>
                  <a:pt x="300505" y="2524092"/>
                  <a:pt x="287694" y="2482008"/>
                  <a:pt x="288272" y="2439923"/>
                </a:cubicBezTo>
                <a:cubicBezTo>
                  <a:pt x="243273" y="2349673"/>
                  <a:pt x="278610" y="2382839"/>
                  <a:pt x="233611" y="2326248"/>
                </a:cubicBezTo>
                <a:lnTo>
                  <a:pt x="115057" y="2127916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72752-126F-BF1F-08AA-A51411C3A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685" y="3641651"/>
            <a:ext cx="4055418" cy="2146374"/>
          </a:xfrm>
        </p:spPr>
        <p:txBody>
          <a:bodyPr anchor="b">
            <a:normAutofit/>
          </a:bodyPr>
          <a:lstStyle/>
          <a:p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Overview Analysis</a:t>
            </a:r>
            <a:b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IN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E747-8702-A1D6-9BF0-53676228B4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96469"/>
            <a:ext cx="5046196" cy="53233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Objective:</a:t>
            </a:r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National-level snapshot</a:t>
            </a:r>
          </a:p>
          <a:p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Key Insights: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Winner Party vs Runner-Up comparison </a:t>
            </a: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Vote share distribution </a:t>
            </a: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Other candidates’ impact </a:t>
            </a: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Total Votes &amp; Candidate count </a:t>
            </a:r>
          </a:p>
          <a:p>
            <a:pPr marL="0" indent="0">
              <a:buNone/>
            </a:pPr>
            <a:endParaRPr lang="en-IN" sz="20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Visuals Used:</a:t>
            </a:r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KPI Cards </a:t>
            </a: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Decomposition Tree </a:t>
            </a:r>
          </a:p>
          <a:p>
            <a:r>
              <a:rPr lang="en-IN" sz="2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Interactive Filters</a:t>
            </a:r>
          </a:p>
          <a:p>
            <a:endParaRPr lang="en-IN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7310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E31D2F-B733-0315-6B98-2E07CFD40E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39"/>
          <a:stretch>
            <a:fillRect/>
          </a:stretch>
        </p:blipFill>
        <p:spPr>
          <a:xfrm>
            <a:off x="810638" y="643467"/>
            <a:ext cx="10570724" cy="55710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F19ED4-92E2-077A-87F8-B4A5ED35F8BC}"/>
              </a:ext>
            </a:extLst>
          </p:cNvPr>
          <p:cNvSpPr txBox="1"/>
          <p:nvPr/>
        </p:nvSpPr>
        <p:spPr>
          <a:xfrm>
            <a:off x="4654295" y="502920"/>
            <a:ext cx="6894576" cy="1463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DB639C-6089-8026-33BA-F3FB184E3993}"/>
              </a:ext>
            </a:extLst>
          </p:cNvPr>
          <p:cNvSpPr txBox="1"/>
          <p:nvPr/>
        </p:nvSpPr>
        <p:spPr>
          <a:xfrm>
            <a:off x="1075587" y="8765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OVERVIEW</a:t>
            </a:r>
            <a:r>
              <a:rPr lang="en-IN" sz="18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ANALYSIS</a:t>
            </a:r>
            <a:endParaRPr lang="en-IN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3419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356115-41F1-9D34-53AE-14BF8D611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FFFF"/>
                </a:solidFill>
              </a:rPr>
              <a:t>State Analysis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2E54D-19CD-59E4-9830-3F470024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4889350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b="1" dirty="0"/>
              <a:t>Objective:</a:t>
            </a:r>
            <a:r>
              <a:rPr lang="en-US" sz="1800" dirty="0"/>
              <a:t> Regional performance comparison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Key Insights:</a:t>
            </a:r>
            <a:endParaRPr lang="en-US" sz="1800" dirty="0"/>
          </a:p>
          <a:p>
            <a:r>
              <a:rPr lang="en-US" sz="1800" dirty="0"/>
              <a:t>State-wise total votes </a:t>
            </a:r>
          </a:p>
          <a:p>
            <a:r>
              <a:rPr lang="en-US" sz="1800" dirty="0"/>
              <a:t>Party distribution across states </a:t>
            </a:r>
          </a:p>
          <a:p>
            <a:r>
              <a:rPr lang="en-US" sz="1800" dirty="0"/>
              <a:t>Turnout variation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Visuals Used:</a:t>
            </a:r>
            <a:endParaRPr lang="en-US" sz="1800" dirty="0"/>
          </a:p>
          <a:p>
            <a:r>
              <a:rPr lang="en-US" sz="1800" dirty="0"/>
              <a:t>Donut Chart → Votes by State </a:t>
            </a:r>
          </a:p>
          <a:p>
            <a:r>
              <a:rPr lang="en-US" sz="1800" dirty="0"/>
              <a:t>Map → Turnout % by State </a:t>
            </a:r>
          </a:p>
          <a:p>
            <a:r>
              <a:rPr lang="en-US" sz="1800" dirty="0"/>
              <a:t>Bar Chart → Total Parties by State </a:t>
            </a:r>
          </a:p>
          <a:p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Business Value:</a:t>
            </a:r>
            <a:endParaRPr lang="en-US" sz="1800" dirty="0"/>
          </a:p>
          <a:p>
            <a:r>
              <a:rPr lang="en-US" sz="1800" dirty="0"/>
              <a:t>Identifies high-performing regions </a:t>
            </a:r>
          </a:p>
          <a:p>
            <a:r>
              <a:rPr lang="en-US" sz="1800" dirty="0"/>
              <a:t>Detects regional political dominance</a:t>
            </a:r>
          </a:p>
          <a:p>
            <a:endParaRPr lang="en-IN" sz="18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004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D073016-B734-483B-8953-5BADEE1451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8600" y="0"/>
            <a:ext cx="8157458" cy="6858000"/>
          </a:xfrm>
          <a:prstGeom prst="rect">
            <a:avLst/>
          </a:prstGeom>
          <a:gradFill>
            <a:gsLst>
              <a:gs pos="2000">
                <a:schemeClr val="accent1"/>
              </a:gs>
              <a:gs pos="78000">
                <a:schemeClr val="accent1">
                  <a:lumMod val="50000"/>
                </a:schemeClr>
              </a:gs>
              <a:gs pos="100000">
                <a:srgbClr val="000000">
                  <a:alpha val="85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90A7EAB6-59D3-4325-8DE6-E0CA4009C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4537" y="1839884"/>
            <a:ext cx="8157460" cy="5017687"/>
          </a:xfrm>
          <a:prstGeom prst="rect">
            <a:avLst/>
          </a:prstGeom>
          <a:gradFill>
            <a:gsLst>
              <a:gs pos="0">
                <a:schemeClr val="accent1">
                  <a:lumMod val="60000"/>
                  <a:lumOff val="40000"/>
                  <a:alpha val="30000"/>
                </a:schemeClr>
              </a:gs>
              <a:gs pos="100000">
                <a:srgbClr val="000000">
                  <a:alpha val="44000"/>
                </a:srgb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063179" y="-33131"/>
            <a:ext cx="6857999" cy="6923403"/>
          </a:xfrm>
          <a:prstGeom prst="rect">
            <a:avLst/>
          </a:prstGeom>
          <a:gradFill>
            <a:gsLst>
              <a:gs pos="56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/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82A86E-1D73-B8EC-DBEC-5052540D65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90"/>
          <a:stretch>
            <a:fillRect/>
          </a:stretch>
        </p:blipFill>
        <p:spPr>
          <a:xfrm>
            <a:off x="809913" y="457200"/>
            <a:ext cx="10572174" cy="5943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87708B-5D58-FC2D-C99D-CB4E4D8898EF}"/>
              </a:ext>
            </a:extLst>
          </p:cNvPr>
          <p:cNvSpPr txBox="1"/>
          <p:nvPr/>
        </p:nvSpPr>
        <p:spPr>
          <a:xfrm>
            <a:off x="1075587" y="8765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STATE</a:t>
            </a:r>
            <a:r>
              <a:rPr lang="en-IN" sz="18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ANALYSIS</a:t>
            </a:r>
            <a:endParaRPr lang="en-IN" dirty="0">
              <a:solidFill>
                <a:srgbClr val="FF00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96652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7D4B30-70FD-8532-5FB6-F12E68786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chemeClr val="tx2"/>
                </a:solidFill>
              </a:rPr>
              <a:t>Constituency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F7078-09A6-8C27-AA7D-C793E0FF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Objective:</a:t>
            </a:r>
            <a:r>
              <a:rPr lang="en-IN" sz="1800" dirty="0">
                <a:solidFill>
                  <a:schemeClr val="tx2"/>
                </a:solidFill>
              </a:rPr>
              <a:t> Micro-level election insights</a:t>
            </a:r>
          </a:p>
          <a:p>
            <a:pPr marL="0" indent="0">
              <a:buNone/>
            </a:pPr>
            <a:endParaRPr lang="en-IN" sz="180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Key Insights:</a:t>
            </a:r>
            <a:endParaRPr lang="en-IN" sz="1800" dirty="0">
              <a:solidFill>
                <a:schemeClr val="tx2"/>
              </a:solidFill>
            </a:endParaRPr>
          </a:p>
          <a:p>
            <a:r>
              <a:rPr lang="en-IN" sz="1800" dirty="0">
                <a:solidFill>
                  <a:schemeClr val="tx2"/>
                </a:solidFill>
              </a:rPr>
              <a:t>Winner vs Runner-up comparison </a:t>
            </a:r>
          </a:p>
          <a:p>
            <a:r>
              <a:rPr lang="en-IN" sz="1800" dirty="0">
                <a:solidFill>
                  <a:schemeClr val="tx2"/>
                </a:solidFill>
              </a:rPr>
              <a:t>Vote margins </a:t>
            </a:r>
          </a:p>
          <a:p>
            <a:r>
              <a:rPr lang="en-IN" sz="1800" dirty="0">
                <a:solidFill>
                  <a:schemeClr val="tx2"/>
                </a:solidFill>
              </a:rPr>
              <a:t>Candidate-level performance </a:t>
            </a:r>
          </a:p>
          <a:p>
            <a:pPr marL="0" indent="0">
              <a:buNone/>
            </a:pPr>
            <a:endParaRPr lang="en-IN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Visuals Used:</a:t>
            </a:r>
            <a:endParaRPr lang="en-IN" sz="1800" dirty="0">
              <a:solidFill>
                <a:schemeClr val="tx2"/>
              </a:solidFill>
            </a:endParaRPr>
          </a:p>
          <a:p>
            <a:r>
              <a:rPr lang="en-IN" sz="1800" dirty="0">
                <a:solidFill>
                  <a:schemeClr val="tx2"/>
                </a:solidFill>
              </a:rPr>
              <a:t>Bar Chart → Votes by Candidate </a:t>
            </a:r>
          </a:p>
          <a:p>
            <a:r>
              <a:rPr lang="en-IN" sz="1800" dirty="0">
                <a:solidFill>
                  <a:schemeClr val="tx2"/>
                </a:solidFill>
              </a:rPr>
              <a:t>Cards → Winner &amp; Runner details </a:t>
            </a:r>
          </a:p>
          <a:p>
            <a:r>
              <a:rPr lang="en-IN" sz="1800" dirty="0">
                <a:solidFill>
                  <a:schemeClr val="tx2"/>
                </a:solidFill>
              </a:rPr>
              <a:t>Slicers → State &amp; Constituency </a:t>
            </a:r>
          </a:p>
          <a:p>
            <a:pPr marL="0" indent="0">
              <a:buNone/>
            </a:pPr>
            <a:endParaRPr lang="en-IN" sz="18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chemeClr val="tx2"/>
                </a:solidFill>
              </a:rPr>
              <a:t>Outcome:</a:t>
            </a:r>
            <a:endParaRPr lang="en-IN" sz="1800" dirty="0">
              <a:solidFill>
                <a:schemeClr val="tx2"/>
              </a:solidFill>
            </a:endParaRPr>
          </a:p>
          <a:p>
            <a:r>
              <a:rPr lang="en-IN" sz="1800" dirty="0">
                <a:solidFill>
                  <a:schemeClr val="tx2"/>
                </a:solidFill>
              </a:rPr>
              <a:t>Understand competitiveness </a:t>
            </a:r>
          </a:p>
          <a:p>
            <a:r>
              <a:rPr lang="en-IN" sz="1800" dirty="0">
                <a:solidFill>
                  <a:schemeClr val="tx2"/>
                </a:solidFill>
              </a:rPr>
              <a:t>Identify strong vs weak seats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2044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A8A8AD-7DA1-E5A3-F7CE-D8EDC04FC7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17"/>
          <a:stretch>
            <a:fillRect/>
          </a:stretch>
        </p:blipFill>
        <p:spPr>
          <a:xfrm>
            <a:off x="826390" y="457200"/>
            <a:ext cx="10539220" cy="5943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8D453C1-9B05-2827-DFD6-067B8DC1D761}"/>
              </a:ext>
            </a:extLst>
          </p:cNvPr>
          <p:cNvSpPr txBox="1"/>
          <p:nvPr/>
        </p:nvSpPr>
        <p:spPr>
          <a:xfrm>
            <a:off x="1075587" y="8765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CONSTITUENCY ANALYSIS</a:t>
            </a:r>
            <a:endParaRPr lang="en-IN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9413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DE6C0D-3CFD-2AC8-D64E-91EA33BCD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rgbClr val="FFFFFF"/>
                </a:solidFill>
              </a:rPr>
              <a:t>Party Strategy &amp; Performance</a:t>
            </a:r>
            <a:br>
              <a:rPr lang="en-US" sz="4100" b="1">
                <a:solidFill>
                  <a:srgbClr val="FFFFFF"/>
                </a:solidFill>
              </a:rPr>
            </a:br>
            <a:endParaRPr lang="en-IN" sz="41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F2DAA-0594-B6B8-71AD-5CD1FAFF6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400" b="1" dirty="0"/>
              <a:t>Objective:</a:t>
            </a:r>
            <a:r>
              <a:rPr lang="en-US" sz="2400" dirty="0"/>
              <a:t> Analyze party-level performance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Key Insights:</a:t>
            </a:r>
            <a:endParaRPr lang="en-US" sz="2400" dirty="0"/>
          </a:p>
          <a:p>
            <a:r>
              <a:rPr lang="en-US" sz="2400" dirty="0"/>
              <a:t>Vote share vs total votes </a:t>
            </a:r>
          </a:p>
          <a:p>
            <a:r>
              <a:rPr lang="en-US" sz="2400" dirty="0"/>
              <a:t>Leading party identification </a:t>
            </a:r>
          </a:p>
          <a:p>
            <a:r>
              <a:rPr lang="en-US" sz="2400" dirty="0"/>
              <a:t>Competitive landscape </a:t>
            </a:r>
          </a:p>
          <a:p>
            <a:pPr marL="0" indent="0">
              <a:buNone/>
            </a:pPr>
            <a:endParaRPr lang="en-US" sz="2400" b="1" dirty="0"/>
          </a:p>
          <a:p>
            <a:pPr marL="0" indent="0">
              <a:buNone/>
            </a:pPr>
            <a:r>
              <a:rPr lang="en-US" sz="2400" b="1" dirty="0"/>
              <a:t>Visuals Used:</a:t>
            </a:r>
            <a:endParaRPr lang="en-US" sz="2400" dirty="0"/>
          </a:p>
          <a:p>
            <a:r>
              <a:rPr lang="en-US" sz="2400" dirty="0"/>
              <a:t>Donut Chart → Party vote share </a:t>
            </a:r>
          </a:p>
          <a:p>
            <a:r>
              <a:rPr lang="en-US" sz="2400" dirty="0"/>
              <a:t>Scatter Plot → Vote share vs votes </a:t>
            </a:r>
          </a:p>
          <a:p>
            <a:r>
              <a:rPr lang="en-US" sz="2400" dirty="0"/>
              <a:t>Table → Party performance metrics </a:t>
            </a:r>
          </a:p>
          <a:p>
            <a:pPr marL="0" indent="0">
              <a:buNone/>
            </a:pPr>
            <a:br>
              <a:rPr lang="en-US" sz="2400" b="1" dirty="0"/>
            </a:br>
            <a:r>
              <a:rPr lang="en-US" sz="2400" b="1" dirty="0"/>
              <a:t>Advanced Analytics:</a:t>
            </a:r>
            <a:endParaRPr lang="en-US" sz="2400" dirty="0"/>
          </a:p>
          <a:p>
            <a:r>
              <a:rPr lang="en-US" sz="2400" dirty="0"/>
              <a:t>Key Influencers </a:t>
            </a:r>
          </a:p>
          <a:p>
            <a:r>
              <a:rPr lang="en-US" sz="2400" dirty="0"/>
              <a:t>Decomposition Tree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275995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03578D3-3185-9DB5-DC08-C694372B3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49" y="457200"/>
            <a:ext cx="10473302" cy="5943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99121D-C9CD-00E3-17C2-197C6A5F1B65}"/>
              </a:ext>
            </a:extLst>
          </p:cNvPr>
          <p:cNvSpPr txBox="1"/>
          <p:nvPr/>
        </p:nvSpPr>
        <p:spPr>
          <a:xfrm>
            <a:off x="1075587" y="87654"/>
            <a:ext cx="60943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PARTY STRATEGY &amp; PERFORMANCE</a:t>
            </a:r>
            <a:r>
              <a:rPr lang="en-IN" sz="1800" dirty="0">
                <a:solidFill>
                  <a:srgbClr val="FFFF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ANALYSIS</a:t>
            </a:r>
            <a:endParaRPr lang="en-IN" dirty="0">
              <a:solidFill>
                <a:srgbClr val="FFFF00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943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Graphic 19" descr="Statistics">
            <a:extLst>
              <a:ext uri="{FF2B5EF4-FFF2-40B4-BE49-F238E27FC236}">
                <a16:creationId xmlns:a16="http://schemas.microsoft.com/office/drawing/2014/main" id="{DF520311-8622-ADA7-8837-BDA9690615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B3342-940F-EEF2-2B15-D8C116609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5215" y="231947"/>
            <a:ext cx="6079464" cy="646979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Conclusion</a:t>
            </a:r>
          </a:p>
          <a:p>
            <a:pPr algn="just"/>
            <a:r>
              <a:rPr lang="en-US" sz="1600" dirty="0">
                <a:solidFill>
                  <a:schemeClr val="tx2"/>
                </a:solidFill>
              </a:rPr>
              <a:t>Successfully developed an interactive dashboard using </a:t>
            </a:r>
            <a:r>
              <a:rPr lang="en-US" sz="1600" b="1" dirty="0">
                <a:solidFill>
                  <a:schemeClr val="tx2"/>
                </a:solidFill>
              </a:rPr>
              <a:t>Microsoft Power BI</a:t>
            </a:r>
            <a:r>
              <a:rPr lang="en-US" sz="1600" dirty="0">
                <a:solidFill>
                  <a:schemeClr val="tx2"/>
                </a:solidFill>
              </a:rPr>
              <a:t> to analyze Indian General Elections data </a:t>
            </a:r>
          </a:p>
          <a:p>
            <a:pPr algn="just"/>
            <a:r>
              <a:rPr lang="en-US" sz="1600" dirty="0">
                <a:solidFill>
                  <a:schemeClr val="tx2"/>
                </a:solidFill>
              </a:rPr>
              <a:t>Transformed raw data into meaningful insights across </a:t>
            </a:r>
            <a:r>
              <a:rPr lang="en-US" sz="1600" b="1" dirty="0">
                <a:solidFill>
                  <a:schemeClr val="tx2"/>
                </a:solidFill>
              </a:rPr>
              <a:t>national, state, constituency, and party levels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</a:p>
          <a:p>
            <a:pPr algn="just"/>
            <a:r>
              <a:rPr lang="en-US" sz="1600" dirty="0">
                <a:solidFill>
                  <a:schemeClr val="tx2"/>
                </a:solidFill>
              </a:rPr>
              <a:t>Implemented </a:t>
            </a:r>
            <a:r>
              <a:rPr lang="en-US" sz="1600" b="1" dirty="0">
                <a:solidFill>
                  <a:schemeClr val="tx2"/>
                </a:solidFill>
              </a:rPr>
              <a:t>DAX measures</a:t>
            </a:r>
            <a:r>
              <a:rPr lang="en-US" sz="1600" dirty="0">
                <a:solidFill>
                  <a:schemeClr val="tx2"/>
                </a:solidFill>
              </a:rPr>
              <a:t> for dynamic calculations like turnout %, vote share, and ranking </a:t>
            </a:r>
          </a:p>
          <a:p>
            <a:pPr algn="just"/>
            <a:r>
              <a:rPr lang="en-US" sz="1600" dirty="0">
                <a:solidFill>
                  <a:schemeClr val="tx2"/>
                </a:solidFill>
              </a:rPr>
              <a:t>Enabled </a:t>
            </a:r>
            <a:r>
              <a:rPr lang="en-US" sz="1600" b="1" dirty="0">
                <a:solidFill>
                  <a:schemeClr val="tx2"/>
                </a:solidFill>
              </a:rPr>
              <a:t>data-driven decision-making</a:t>
            </a:r>
            <a:r>
              <a:rPr lang="en-US" sz="1600" dirty="0">
                <a:solidFill>
                  <a:schemeClr val="tx2"/>
                </a:solidFill>
              </a:rPr>
              <a:t> through intuitive and interactive visualizations </a:t>
            </a:r>
          </a:p>
          <a:p>
            <a:pPr algn="just"/>
            <a:r>
              <a:rPr lang="en-US" sz="1600" dirty="0">
                <a:solidFill>
                  <a:schemeClr val="tx2"/>
                </a:solidFill>
              </a:rPr>
              <a:t>Gained strong understanding of: </a:t>
            </a:r>
          </a:p>
          <a:p>
            <a:pPr lvl="1" algn="just"/>
            <a:r>
              <a:rPr lang="en-US" sz="1600" dirty="0">
                <a:solidFill>
                  <a:schemeClr val="tx2"/>
                </a:solidFill>
              </a:rPr>
              <a:t>Data preprocessing </a:t>
            </a:r>
          </a:p>
          <a:p>
            <a:pPr lvl="1" algn="just"/>
            <a:r>
              <a:rPr lang="en-US" sz="1600" dirty="0">
                <a:solidFill>
                  <a:schemeClr val="tx2"/>
                </a:solidFill>
              </a:rPr>
              <a:t>Data modeling </a:t>
            </a:r>
          </a:p>
          <a:p>
            <a:pPr lvl="1" algn="just"/>
            <a:r>
              <a:rPr lang="en-US" sz="1600" dirty="0">
                <a:solidFill>
                  <a:schemeClr val="tx2"/>
                </a:solidFill>
              </a:rPr>
              <a:t>Business intelligence concepts</a:t>
            </a:r>
            <a:endParaRPr lang="en-US" sz="1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Future Scope</a:t>
            </a:r>
          </a:p>
          <a:p>
            <a:r>
              <a:rPr lang="en-US" sz="1600" dirty="0">
                <a:solidFill>
                  <a:schemeClr val="tx2"/>
                </a:solidFill>
              </a:rPr>
              <a:t>Add more recent election data for better analysis </a:t>
            </a:r>
          </a:p>
          <a:p>
            <a:r>
              <a:rPr lang="en-US" sz="1600" dirty="0">
                <a:solidFill>
                  <a:schemeClr val="tx2"/>
                </a:solidFill>
              </a:rPr>
              <a:t>Improve dashboard design and visuals </a:t>
            </a:r>
          </a:p>
          <a:p>
            <a:r>
              <a:rPr lang="en-US" sz="1600" dirty="0">
                <a:solidFill>
                  <a:schemeClr val="tx2"/>
                </a:solidFill>
              </a:rPr>
              <a:t>Include more insights like seat share and trends </a:t>
            </a:r>
          </a:p>
          <a:p>
            <a:r>
              <a:rPr lang="en-US" sz="1600" dirty="0">
                <a:solidFill>
                  <a:schemeClr val="tx2"/>
                </a:solidFill>
              </a:rPr>
              <a:t>Make the dashboard more interactive with filters </a:t>
            </a:r>
          </a:p>
          <a:p>
            <a:r>
              <a:rPr lang="en-US" sz="1600" dirty="0">
                <a:solidFill>
                  <a:schemeClr val="tx2"/>
                </a:solidFill>
              </a:rPr>
              <a:t>Share the dashboard online using Power BI Service</a:t>
            </a:r>
          </a:p>
          <a:p>
            <a:endParaRPr lang="en-IN" sz="700" dirty="0">
              <a:solidFill>
                <a:schemeClr val="tx2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115063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FE6D4-7C56-7164-B78D-C409C25456C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br>
              <a:rPr lang="en-IN" sz="16600" dirty="0"/>
            </a:br>
            <a:br>
              <a:rPr lang="en-IN" sz="16600" dirty="0"/>
            </a:br>
            <a:endParaRPr lang="en-IN" sz="9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61C4B4-8077-CB34-E834-21C923865875}"/>
              </a:ext>
            </a:extLst>
          </p:cNvPr>
          <p:cNvSpPr txBox="1"/>
          <p:nvPr/>
        </p:nvSpPr>
        <p:spPr>
          <a:xfrm>
            <a:off x="0" y="2228671"/>
            <a:ext cx="12192000" cy="240065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sz="15000" dirty="0">
                <a:solidFill>
                  <a:schemeClr val="bg1"/>
                </a:solidFill>
                <a:latin typeface="Aptos Slab Black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 THANK YOU</a:t>
            </a:r>
          </a:p>
        </p:txBody>
      </p:sp>
    </p:spTree>
    <p:extLst>
      <p:ext uri="{BB962C8B-B14F-4D97-AF65-F5344CB8AC3E}">
        <p14:creationId xmlns:p14="http://schemas.microsoft.com/office/powerpoint/2010/main" val="2684231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504</Words>
  <Application>Microsoft Office PowerPoint</Application>
  <PresentationFormat>Widescreen</PresentationFormat>
  <Paragraphs>106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ADLaM Display</vt:lpstr>
      <vt:lpstr>Aptos</vt:lpstr>
      <vt:lpstr>Aptos Display</vt:lpstr>
      <vt:lpstr>Aptos Slab Black</vt:lpstr>
      <vt:lpstr>Arial</vt:lpstr>
      <vt:lpstr>Office Theme</vt:lpstr>
      <vt:lpstr>  India General Elections Intelligence Dashboard (1977-2015)   Done by Dhanashri Kadam Hasini Kolluri  Moturi Sai Dinesh Piyush Churhe Siddamshetty Saipriya </vt:lpstr>
      <vt:lpstr>Data Preprocessing (Power Query)</vt:lpstr>
      <vt:lpstr>PowerPoint Presentation</vt:lpstr>
      <vt:lpstr>DAX Calculations</vt:lpstr>
      <vt:lpstr>Overview Analysis </vt:lpstr>
      <vt:lpstr>PowerPoint Presentation</vt:lpstr>
      <vt:lpstr>State Analysis</vt:lpstr>
      <vt:lpstr>PowerPoint Presentation</vt:lpstr>
      <vt:lpstr>Constituency Analysis</vt:lpstr>
      <vt:lpstr>PowerPoint Presentation</vt:lpstr>
      <vt:lpstr>Party Strategy &amp; Performance </vt:lpstr>
      <vt:lpstr>PowerPoint Presentation</vt:lpstr>
      <vt:lpstr>PowerPoint Presentation</vt:lpstr>
      <vt:lpstr>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 Dinesh Moturi</dc:creator>
  <cp:lastModifiedBy>Sai Dinesh Moturi</cp:lastModifiedBy>
  <cp:revision>5</cp:revision>
  <dcterms:created xsi:type="dcterms:W3CDTF">2026-03-26T13:44:15Z</dcterms:created>
  <dcterms:modified xsi:type="dcterms:W3CDTF">2026-03-27T15:38:27Z</dcterms:modified>
</cp:coreProperties>
</file>